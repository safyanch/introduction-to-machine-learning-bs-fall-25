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0" r:id="rId4"/>
    <p:sldId id="279" r:id="rId5"/>
    <p:sldId id="286" r:id="rId6"/>
    <p:sldId id="287" r:id="rId7"/>
    <p:sldId id="288" r:id="rId8"/>
    <p:sldId id="289" r:id="rId9"/>
    <p:sldId id="281" r:id="rId10"/>
    <p:sldId id="282" r:id="rId11"/>
    <p:sldId id="283" r:id="rId12"/>
    <p:sldId id="284" r:id="rId13"/>
    <p:sldId id="285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7"/>
    <p:sldId id="300" r:id="rId26"/>
    <p:sldId id="301" r:id="rId25"/>
    <p:sldId id="302" r:id="rId24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312" r:id="rId41"/>
    <p:sldId id="313" r:id="rId42"/>
    <p:sldId id="314" r:id="rId43"/>
    <p:sldId id="315" r:id="rId44"/>
    <p:sldId id="316" r:id="rId45"/>
    <p:sldId id="317" r:id="rId46"/>
    <p:sldId id="318" r:id="rId47"/>
    <p:sldId id="319" r:id="rId48"/>
    <p:sldId id="320" r:id="rId49"/>
    <p:sldId id="321" r:id="rId50"/>
    <p:sldId id="322" r:id="rId51"/>
    <p:sldId id="323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6.xml"/><Relationship Id="rId25" Type="http://schemas.openxmlformats.org/officeDocument/2006/relationships/slide" Target="slides/slide25.xml"/><Relationship Id="rId26" Type="http://schemas.openxmlformats.org/officeDocument/2006/relationships/slide" Target="slides/slide24.xml"/><Relationship Id="rId27" Type="http://schemas.openxmlformats.org/officeDocument/2006/relationships/slide" Target="slides/slide23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4EA0-593E-45B6-B80A-4BF6759BE2F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C754-7AAE-406C-B3CE-42B8CB8EA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244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4EA0-593E-45B6-B80A-4BF6759BE2F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C754-7AAE-406C-B3CE-42B8CB8EA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798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4EA0-593E-45B6-B80A-4BF6759BE2F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C754-7AAE-406C-B3CE-42B8CB8EA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162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4EA0-593E-45B6-B80A-4BF6759BE2F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C754-7AAE-406C-B3CE-42B8CB8EA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251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4EA0-593E-45B6-B80A-4BF6759BE2F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C754-7AAE-406C-B3CE-42B8CB8EA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69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4EA0-593E-45B6-B80A-4BF6759BE2F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C754-7AAE-406C-B3CE-42B8CB8EA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80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4EA0-593E-45B6-B80A-4BF6759BE2F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C754-7AAE-406C-B3CE-42B8CB8EA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386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4EA0-593E-45B6-B80A-4BF6759BE2F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C754-7AAE-406C-B3CE-42B8CB8EA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14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4EA0-593E-45B6-B80A-4BF6759BE2F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C754-7AAE-406C-B3CE-42B8CB8EA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71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4EA0-593E-45B6-B80A-4BF6759BE2F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C754-7AAE-406C-B3CE-42B8CB8EA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712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4EA0-593E-45B6-B80A-4BF6759BE2F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3C754-7AAE-406C-B3CE-42B8CB8EA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1636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14EA0-593E-45B6-B80A-4BF6759BE2F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3C754-7AAE-406C-B3CE-42B8CB8EA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383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77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image" Target="../media/image83.png"/><Relationship Id="rId7" Type="http://schemas.openxmlformats.org/officeDocument/2006/relationships/image" Target="../media/image7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png"/><Relationship Id="rId3" Type="http://schemas.openxmlformats.org/officeDocument/2006/relationships/image" Target="../media/image103.png"/><Relationship Id="rId4" Type="http://schemas.openxmlformats.org/officeDocument/2006/relationships/image" Target="../media/image77.png"/><Relationship Id="rId5" Type="http://schemas.openxmlformats.org/officeDocument/2006/relationships/image" Target="../media/image104.png"/><Relationship Id="rId6" Type="http://schemas.openxmlformats.org/officeDocument/2006/relationships/image" Target="../media/image105.png"/><Relationship Id="rId7" Type="http://schemas.openxmlformats.org/officeDocument/2006/relationships/image" Target="../media/image8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png"/><Relationship Id="rId3" Type="http://schemas.openxmlformats.org/officeDocument/2006/relationships/image" Target="../media/image107.png"/><Relationship Id="rId4" Type="http://schemas.openxmlformats.org/officeDocument/2006/relationships/image" Target="../media/image73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8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png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Relationship Id="rId3" Type="http://schemas.openxmlformats.org/officeDocument/2006/relationships/image" Target="../media/image116.png"/><Relationship Id="rId4" Type="http://schemas.openxmlformats.org/officeDocument/2006/relationships/image" Target="../media/image117.png"/><Relationship Id="rId5" Type="http://schemas.openxmlformats.org/officeDocument/2006/relationships/image" Target="../media/image118.png"/><Relationship Id="rId6" Type="http://schemas.openxmlformats.org/officeDocument/2006/relationships/image" Target="../media/image119.png"/><Relationship Id="rId7" Type="http://schemas.openxmlformats.org/officeDocument/2006/relationships/image" Target="../media/image12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Decision Tree Regression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Muhammad </a:t>
            </a:r>
            <a:r>
              <a:rPr lang="en-US" dirty="0" err="1" smtClean="0"/>
              <a:t>safyan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659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79" y="143690"/>
            <a:ext cx="11320244" cy="632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749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30" y="203111"/>
            <a:ext cx="4202717" cy="49155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885" y="187096"/>
            <a:ext cx="5925377" cy="16385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917" y="1825625"/>
            <a:ext cx="5372850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325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0" y="219010"/>
            <a:ext cx="5525271" cy="933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65" y="1152590"/>
            <a:ext cx="5669955" cy="353828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9346" y="1152590"/>
            <a:ext cx="5877745" cy="239110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788" y="5243399"/>
            <a:ext cx="1914792" cy="76210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6458" y="4091892"/>
            <a:ext cx="2038635" cy="68589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1025" y="5181366"/>
            <a:ext cx="5992061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392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7491"/>
            <a:ext cx="2724530" cy="65731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42" y="672498"/>
            <a:ext cx="5725324" cy="22577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32" y="2930238"/>
            <a:ext cx="2495898" cy="66684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672498"/>
            <a:ext cx="5043708" cy="23625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4192" y="3101871"/>
            <a:ext cx="2553056" cy="58110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6137" y="4804885"/>
            <a:ext cx="6449325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772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33" y="0"/>
            <a:ext cx="4848902" cy="66684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042" y="666843"/>
            <a:ext cx="4134427" cy="49536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53" y="1162212"/>
            <a:ext cx="3391373" cy="10955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165" y="2323038"/>
            <a:ext cx="4896533" cy="15718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65" y="4212118"/>
            <a:ext cx="971686" cy="3905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853" y="4691302"/>
            <a:ext cx="752580" cy="45726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5286" y="4691302"/>
            <a:ext cx="390580" cy="4096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57378" y="1709976"/>
            <a:ext cx="3267531" cy="7144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7806" y="2645611"/>
            <a:ext cx="5182323" cy="76210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42318" y="3723280"/>
            <a:ext cx="2486372" cy="60015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73313" y="5038249"/>
            <a:ext cx="5439534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879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33" y="0"/>
            <a:ext cx="4848902" cy="66684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33" y="787993"/>
            <a:ext cx="3515216" cy="151468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33" y="2423829"/>
            <a:ext cx="6382641" cy="25244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973" y="5069456"/>
            <a:ext cx="2343477" cy="6668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0335" y="2294204"/>
            <a:ext cx="4580773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131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37" y="160593"/>
            <a:ext cx="5582429" cy="54395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89" y="4597982"/>
            <a:ext cx="5487166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313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38" y="350880"/>
            <a:ext cx="6820852" cy="575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564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02" y="205548"/>
            <a:ext cx="5915851" cy="54776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998" y="4916317"/>
            <a:ext cx="5687219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715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89" y="219838"/>
            <a:ext cx="5630061" cy="54490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97" y="5668898"/>
            <a:ext cx="2657846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319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45" y="475933"/>
            <a:ext cx="5210902" cy="45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888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943" y="1066470"/>
            <a:ext cx="6192114" cy="47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885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5913"/>
            <a:ext cx="6852144" cy="60260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043" y="2835978"/>
            <a:ext cx="4793597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243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013" y="155208"/>
            <a:ext cx="6268325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930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995" y="961680"/>
            <a:ext cx="6154009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039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450" y="1239394"/>
            <a:ext cx="5363323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86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158" y="478562"/>
            <a:ext cx="6096851" cy="235300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158" y="3400946"/>
            <a:ext cx="2610214" cy="7144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645" y="4240490"/>
            <a:ext cx="2391109" cy="5715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420" y="4937139"/>
            <a:ext cx="5753903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222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49" y="0"/>
            <a:ext cx="5391902" cy="23434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49" y="2652190"/>
            <a:ext cx="5706271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745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70" y="84127"/>
            <a:ext cx="6325483" cy="378195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517" y="3397314"/>
            <a:ext cx="7135221" cy="324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569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75" y="278557"/>
            <a:ext cx="8021169" cy="48012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15605"/>
          <a:stretch/>
        </p:blipFill>
        <p:spPr>
          <a:xfrm>
            <a:off x="622375" y="5495544"/>
            <a:ext cx="8697539" cy="964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01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62" y="303041"/>
            <a:ext cx="5953956" cy="60873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808" y="303041"/>
            <a:ext cx="6115904" cy="472505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7019" y="5142416"/>
            <a:ext cx="5858693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693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274320"/>
            <a:ext cx="82296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1F1F"/>
                </a:solidFill>
                <a:latin typeface="Calibri"/>
              </a:rPr>
              <a:t>LEVEL 2 — Left Node (C1 = A)</a:t>
            </a:r>
          </a:p>
        </p:txBody>
      </p:sp>
      <p:sp>
        <p:nvSpPr>
          <p:cNvPr id="3" name="Location tag"/>
          <p:cNvSpPr txBox="1"/>
          <p:nvPr/>
        </p:nvSpPr>
        <p:spPr>
          <a:xfrm>
            <a:off x="8138160" y="384048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Level 2  ·  Left node (C1 = A)</a:t>
            </a:r>
          </a:p>
        </p:txBody>
      </p:sp>
      <p:graphicFrame>
        <p:nvGraphicFramePr>
          <p:cNvPr id="4" name="Node data"/>
          <p:cNvGraphicFramePr>
            <a:graphicFrameLocks noGrp="1"/>
          </p:cNvGraphicFramePr>
          <p:nvPr/>
        </p:nvGraphicFramePr>
        <p:xfrm>
          <a:off x="502920" y="1188720"/>
          <a:ext cx="5577840" cy="2286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31520"/>
                <a:gridCol w="731520"/>
                <a:gridCol w="731520"/>
                <a:gridCol w="1005840"/>
                <a:gridCol w="100584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F1F1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F1F1F"/>
                          </a:solidFill>
                          <a:latin typeface="Calibri"/>
                        </a:rPr>
                        <a:t>C1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F1F1F"/>
                          </a:solidFill>
                          <a:latin typeface="Calibri"/>
                        </a:rPr>
                        <a:t>C2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F1F1F"/>
                          </a:solidFill>
                          <a:latin typeface="Calibri"/>
                        </a:rPr>
                        <a:t>cont1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F1F1F"/>
                          </a:solidFill>
                          <a:latin typeface="Calibri"/>
                        </a:rPr>
                        <a:t>cont2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F1F1F"/>
                          </a:solidFill>
                          <a:latin typeface="Calibri"/>
                        </a:rPr>
                        <a:t>target (y)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3.5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0" y="1188720"/>
            <a:ext cx="51206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1F1F"/>
                </a:solidFill>
                <a:latin typeface="Calibri"/>
              </a:rPr>
              <a:t>Candidates to evaluate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91640"/>
            <a:ext cx="5120640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F1F1F"/>
                </a:solidFill>
                <a:latin typeface="Calibri"/>
              </a:rPr>
              <a:t>C1: </a:t>
            </a:r>
            <a:r>
              <a:rPr sz="1700" b="0">
                <a:solidFill>
                  <a:srgbClr val="1F1F1F"/>
                </a:solidFill>
                <a:latin typeface="Calibri"/>
              </a:rPr>
              <a:t>every row has C1 = A, so it cannot split this node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1F1F1F"/>
                </a:solidFill>
                <a:latin typeface="Calibri"/>
              </a:rPr>
              <a:t>C2: </a:t>
            </a:r>
            <a:r>
              <a:rPr sz="1700" b="0">
                <a:solidFill>
                  <a:srgbClr val="1F1F1F"/>
                </a:solidFill>
                <a:latin typeface="Calibri"/>
              </a:rPr>
              <a:t>X vs Y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1F1F1F"/>
                </a:solidFill>
                <a:latin typeface="Calibri"/>
              </a:rPr>
              <a:t>cont1: </a:t>
            </a:r>
            <a:r>
              <a:rPr sz="1700" b="0">
                <a:solidFill>
                  <a:srgbClr val="1F1F1F"/>
                </a:solidFill>
                <a:latin typeface="Calibri"/>
              </a:rPr>
              <a:t>midpoint thresholds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1F1F1F"/>
                </a:solidFill>
                <a:latin typeface="Calibri"/>
              </a:rPr>
              <a:t>cont2: </a:t>
            </a:r>
            <a:r>
              <a:rPr sz="1700" b="0">
                <a:solidFill>
                  <a:srgbClr val="1F1F1F"/>
                </a:solidFill>
                <a:latin typeface="Calibri"/>
              </a:rPr>
              <a:t>midpoint thresholds</a:t>
            </a:r>
          </a:p>
        </p:txBody>
      </p:sp>
      <p:sp>
        <p:nvSpPr>
          <p:cNvPr id="7" name="Card"/>
          <p:cNvSpPr/>
          <p:nvPr/>
        </p:nvSpPr>
        <p:spPr>
          <a:xfrm>
            <a:off x="502920" y="3931920"/>
            <a:ext cx="11183112" cy="256032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005072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3864"/>
                </a:solidFill>
                <a:latin typeface="Calibri"/>
              </a:rPr>
              <a:t>Node mean and MSE (the parent impurity)</a:t>
            </a:r>
          </a:p>
        </p:txBody>
      </p:sp>
      <p:pic>
        <p:nvPicPr>
          <p:cNvPr id="9" name="Formula" descr="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348" y="4480560"/>
            <a:ext cx="2819400" cy="435864"/>
          </a:xfrm>
          <a:prstGeom prst="rect">
            <a:avLst/>
          </a:prstGeom>
        </p:spPr>
      </p:pic>
      <p:pic>
        <p:nvPicPr>
          <p:cNvPr id="10" name="Formula" descr="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504" y="5053584"/>
            <a:ext cx="5657088" cy="499871"/>
          </a:xfrm>
          <a:prstGeom prst="rect">
            <a:avLst/>
          </a:prstGeom>
        </p:spPr>
      </p:pic>
      <p:pic>
        <p:nvPicPr>
          <p:cNvPr id="11" name="Formula" descr="f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9892" y="5626608"/>
            <a:ext cx="3258312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274320"/>
            <a:ext cx="82296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1F1F"/>
                </a:solidFill>
                <a:latin typeface="Calibri"/>
              </a:rPr>
              <a:t>STEP 1 — Evaluate categorical feature C2</a:t>
            </a:r>
          </a:p>
        </p:txBody>
      </p:sp>
      <p:sp>
        <p:nvSpPr>
          <p:cNvPr id="3" name="Location tag"/>
          <p:cNvSpPr txBox="1"/>
          <p:nvPr/>
        </p:nvSpPr>
        <p:spPr>
          <a:xfrm>
            <a:off x="8138160" y="384048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Level 2  ·  Left node (C1 = A)</a:t>
            </a:r>
          </a:p>
        </p:txBody>
      </p:sp>
      <p:sp>
        <p:nvSpPr>
          <p:cNvPr id="4" name="Card"/>
          <p:cNvSpPr/>
          <p:nvPr/>
        </p:nvSpPr>
        <p:spPr>
          <a:xfrm>
            <a:off x="502920" y="1051560"/>
            <a:ext cx="5486400" cy="4069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61288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864"/>
                </a:solidFill>
                <a:latin typeface="Calibri"/>
              </a:rPr>
              <a:t>Group C2 = 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IDs 1, 2   |   targets: 10,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Mean</a:t>
            </a:r>
          </a:p>
        </p:txBody>
      </p:sp>
      <p:pic>
        <p:nvPicPr>
          <p:cNvPr id="8" name="Formula" descr="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332" y="2404872"/>
            <a:ext cx="1941576" cy="4358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300532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MSE</a:t>
            </a:r>
          </a:p>
        </p:txBody>
      </p:sp>
      <p:pic>
        <p:nvPicPr>
          <p:cNvPr id="10" name="Formula" descr="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259" y="3352800"/>
            <a:ext cx="3093720" cy="499871"/>
          </a:xfrm>
          <a:prstGeom prst="rect">
            <a:avLst/>
          </a:prstGeom>
        </p:spPr>
      </p:pic>
      <p:pic>
        <p:nvPicPr>
          <p:cNvPr id="11" name="Formula" descr="f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707" y="3944112"/>
            <a:ext cx="1258824" cy="432816"/>
          </a:xfrm>
          <a:prstGeom prst="rect">
            <a:avLst/>
          </a:prstGeom>
        </p:spPr>
      </p:pic>
      <p:sp>
        <p:nvSpPr>
          <p:cNvPr id="12" name="Card"/>
          <p:cNvSpPr/>
          <p:nvPr/>
        </p:nvSpPr>
        <p:spPr>
          <a:xfrm>
            <a:off x="6199632" y="1051560"/>
            <a:ext cx="5486400" cy="4069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161288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864"/>
                </a:solidFill>
                <a:latin typeface="Calibri"/>
              </a:rPr>
              <a:t>Group C2 = 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55448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IDs 3, 7   |   targets: 11, 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05740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Mean</a:t>
            </a:r>
          </a:p>
        </p:txBody>
      </p:sp>
      <p:pic>
        <p:nvPicPr>
          <p:cNvPr id="16" name="Formula" descr="f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1856" y="2404872"/>
            <a:ext cx="1901952" cy="4358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82512" y="300532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MSE</a:t>
            </a:r>
          </a:p>
        </p:txBody>
      </p:sp>
      <p:pic>
        <p:nvPicPr>
          <p:cNvPr id="18" name="Formula" descr="f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8832" y="3352800"/>
            <a:ext cx="3048000" cy="499871"/>
          </a:xfrm>
          <a:prstGeom prst="rect">
            <a:avLst/>
          </a:prstGeom>
        </p:spPr>
      </p:pic>
      <p:pic>
        <p:nvPicPr>
          <p:cNvPr id="19" name="Formula" descr="f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3420" y="3944112"/>
            <a:ext cx="1258824" cy="432816"/>
          </a:xfrm>
          <a:prstGeom prst="rect">
            <a:avLst/>
          </a:prstGeom>
        </p:spPr>
      </p:pic>
      <p:sp>
        <p:nvSpPr>
          <p:cNvPr id="20" name="Weighted card"/>
          <p:cNvSpPr/>
          <p:nvPr/>
        </p:nvSpPr>
        <p:spPr>
          <a:xfrm>
            <a:off x="502920" y="5303520"/>
            <a:ext cx="11183112" cy="123444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376672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75623"/>
                </a:solidFill>
                <a:latin typeface="Calibri"/>
              </a:rPr>
              <a:t>Weighted MSE</a:t>
            </a:r>
          </a:p>
        </p:txBody>
      </p:sp>
      <p:pic>
        <p:nvPicPr>
          <p:cNvPr id="22" name="Weighted formula" descr="f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5928" y="5760720"/>
            <a:ext cx="4206240" cy="46329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274320"/>
            <a:ext cx="82296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1F1F"/>
                </a:solidFill>
                <a:latin typeface="Calibri"/>
              </a:rPr>
              <a:t>STEP 2 — Continuous Feature: cont1</a:t>
            </a:r>
          </a:p>
        </p:txBody>
      </p:sp>
      <p:sp>
        <p:nvSpPr>
          <p:cNvPr id="3" name="Location tag"/>
          <p:cNvSpPr txBox="1"/>
          <p:nvPr/>
        </p:nvSpPr>
        <p:spPr>
          <a:xfrm>
            <a:off x="8138160" y="384048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Level 2  ·  Left node (C1 = A)</a:t>
            </a:r>
          </a:p>
        </p:txBody>
      </p:sp>
      <p:graphicFrame>
        <p:nvGraphicFramePr>
          <p:cNvPr id="4" name="Sorted data"/>
          <p:cNvGraphicFramePr>
            <a:graphicFrameLocks noGrp="1"/>
          </p:cNvGraphicFramePr>
          <p:nvPr/>
        </p:nvGraphicFramePr>
        <p:xfrm>
          <a:off x="502920" y="1188720"/>
          <a:ext cx="4206240" cy="2286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1F1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1F1F"/>
                          </a:solidFill>
                          <a:latin typeface="Calibri"/>
                        </a:rPr>
                        <a:t>cont1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1F1F"/>
                          </a:solidFill>
                          <a:latin typeface="Calibri"/>
                        </a:rPr>
                        <a:t>target (y)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3.5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0" y="1188720"/>
            <a:ext cx="6035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1F1F"/>
                </a:solidFill>
                <a:latin typeface="Calibri"/>
              </a:rPr>
              <a:t>Possible split thresholds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737360"/>
            <a:ext cx="60350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1F1F"/>
                </a:solidFill>
                <a:latin typeface="Calibri"/>
              </a:rPr>
              <a:t>Sorted values: </a:t>
            </a:r>
            <a:r>
              <a:rPr sz="1700" b="0">
                <a:solidFill>
                  <a:srgbClr val="1F1F1F"/>
                </a:solidFill>
                <a:latin typeface="Calibri"/>
              </a:rPr>
              <a:t>2.0, 2.5, 3.0, 3.5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F1F1F"/>
                </a:solidFill>
                <a:latin typeface="Calibri"/>
              </a:rPr>
              <a:t>Unique values: </a:t>
            </a:r>
            <a:r>
              <a:rPr sz="1700" b="0">
                <a:solidFill>
                  <a:srgbClr val="1F1F1F"/>
                </a:solidFill>
                <a:latin typeface="Calibri"/>
              </a:rPr>
              <a:t>2.0, 2.5, 3.0, 3.5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743200"/>
            <a:ext cx="60350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1F1F"/>
                </a:solidFill>
                <a:latin typeface="Calibri"/>
              </a:rPr>
              <a:t>Midpoints between neighbouring unique values: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3154680"/>
            <a:ext cx="603504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1F1F"/>
                </a:solidFill>
                <a:latin typeface="Calibri"/>
              </a:rPr>
              <a:t>(2.0 + 2.5) / 2 = 2.25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1F1F"/>
                </a:solidFill>
                <a:latin typeface="Calibri"/>
              </a:rPr>
              <a:t>(2.5 + 3.0) / 2 = 2.75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1F1F"/>
                </a:solidFill>
                <a:latin typeface="Calibri"/>
              </a:rPr>
              <a:t>(3.0 + 3.5) / 2 = 3.25</a:t>
            </a:r>
          </a:p>
        </p:txBody>
      </p:sp>
      <p:sp>
        <p:nvSpPr>
          <p:cNvPr id="9" name="Card"/>
          <p:cNvSpPr/>
          <p:nvPr/>
        </p:nvSpPr>
        <p:spPr>
          <a:xfrm>
            <a:off x="5669280" y="4754880"/>
            <a:ext cx="6035040" cy="109728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Threshold set" descr="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5029200"/>
            <a:ext cx="2706624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r"/>
          <p:cNvSpPr/>
          <p:nvPr/>
        </p:nvSpPr>
        <p:spPr>
          <a:xfrm>
            <a:off x="530352" y="384048"/>
            <a:ext cx="384048" cy="384048"/>
          </a:xfrm>
          <a:prstGeom prst="star5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1005840" y="274320"/>
            <a:ext cx="82296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1F1F"/>
                </a:solidFill>
                <a:latin typeface="Calibri"/>
              </a:rPr>
              <a:t>cont1 — Split 1: Threshold = 2.25</a:t>
            </a:r>
          </a:p>
        </p:txBody>
      </p:sp>
      <p:sp>
        <p:nvSpPr>
          <p:cNvPr id="4" name="Location tag"/>
          <p:cNvSpPr txBox="1"/>
          <p:nvPr/>
        </p:nvSpPr>
        <p:spPr>
          <a:xfrm>
            <a:off x="8138160" y="384048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Level 2  ·  Left node (C1 = A)</a:t>
            </a:r>
          </a:p>
        </p:txBody>
      </p:sp>
      <p:sp>
        <p:nvSpPr>
          <p:cNvPr id="5" name="Card"/>
          <p:cNvSpPr/>
          <p:nvPr/>
        </p:nvSpPr>
        <p:spPr>
          <a:xfrm>
            <a:off x="502920" y="1051560"/>
            <a:ext cx="5486400" cy="4069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61288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864"/>
                </a:solidFill>
                <a:latin typeface="Calibri"/>
              </a:rPr>
              <a:t>LEFT: cont1 ≤ 2.25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IDs 1   |   targets: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Mean</a:t>
            </a:r>
          </a:p>
        </p:txBody>
      </p:sp>
      <p:pic>
        <p:nvPicPr>
          <p:cNvPr id="9" name="Formula" descr="f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536" y="2404872"/>
            <a:ext cx="963167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289864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MSE</a:t>
            </a:r>
          </a:p>
        </p:txBody>
      </p:sp>
      <p:pic>
        <p:nvPicPr>
          <p:cNvPr id="11" name="Formula" descr="f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563" y="3246120"/>
            <a:ext cx="2801112" cy="371856"/>
          </a:xfrm>
          <a:prstGeom prst="rect">
            <a:avLst/>
          </a:prstGeom>
        </p:spPr>
      </p:pic>
      <p:sp>
        <p:nvSpPr>
          <p:cNvPr id="12" name="Card"/>
          <p:cNvSpPr/>
          <p:nvPr/>
        </p:nvSpPr>
        <p:spPr>
          <a:xfrm>
            <a:off x="6199632" y="1051560"/>
            <a:ext cx="5486400" cy="4069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161288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864"/>
                </a:solidFill>
                <a:latin typeface="Calibri"/>
              </a:rPr>
              <a:t>RIGHT: cont1 &gt; 2.25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55448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IDs 2, 3, 7   |   targets: 12, 11, 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05740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Mean</a:t>
            </a:r>
          </a:p>
        </p:txBody>
      </p:sp>
      <p:pic>
        <p:nvPicPr>
          <p:cNvPr id="16" name="Formula" descr="f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6304" y="2404872"/>
            <a:ext cx="2353056" cy="4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82512" y="3008376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MSE</a:t>
            </a:r>
          </a:p>
        </p:txBody>
      </p:sp>
      <p:pic>
        <p:nvPicPr>
          <p:cNvPr id="18" name="Formula" descr="f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5620" y="3355848"/>
            <a:ext cx="4154423" cy="499871"/>
          </a:xfrm>
          <a:prstGeom prst="rect">
            <a:avLst/>
          </a:prstGeom>
        </p:spPr>
      </p:pic>
      <p:pic>
        <p:nvPicPr>
          <p:cNvPr id="19" name="Formula" descr="f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7368" y="3947160"/>
            <a:ext cx="2090928" cy="438912"/>
          </a:xfrm>
          <a:prstGeom prst="rect">
            <a:avLst/>
          </a:prstGeom>
        </p:spPr>
      </p:pic>
      <p:sp>
        <p:nvSpPr>
          <p:cNvPr id="20" name="Weighted card"/>
          <p:cNvSpPr/>
          <p:nvPr/>
        </p:nvSpPr>
        <p:spPr>
          <a:xfrm>
            <a:off x="502920" y="5303520"/>
            <a:ext cx="11183112" cy="123444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376672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75623"/>
                </a:solidFill>
                <a:latin typeface="Calibri"/>
              </a:rPr>
              <a:t>Weighted MSE</a:t>
            </a:r>
          </a:p>
        </p:txBody>
      </p:sp>
      <p:pic>
        <p:nvPicPr>
          <p:cNvPr id="22" name="Weighted formula" descr="f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9416" y="5760720"/>
            <a:ext cx="4779264" cy="46634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r"/>
          <p:cNvSpPr/>
          <p:nvPr/>
        </p:nvSpPr>
        <p:spPr>
          <a:xfrm>
            <a:off x="530352" y="384048"/>
            <a:ext cx="384048" cy="384048"/>
          </a:xfrm>
          <a:prstGeom prst="star5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1005840" y="274320"/>
            <a:ext cx="82296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1F1F"/>
                </a:solidFill>
                <a:latin typeface="Calibri"/>
              </a:rPr>
              <a:t>cont1 — Split 2: Threshold = 2.75</a:t>
            </a:r>
          </a:p>
        </p:txBody>
      </p:sp>
      <p:sp>
        <p:nvSpPr>
          <p:cNvPr id="4" name="Location tag"/>
          <p:cNvSpPr txBox="1"/>
          <p:nvPr/>
        </p:nvSpPr>
        <p:spPr>
          <a:xfrm>
            <a:off x="8138160" y="384048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Level 2  ·  Left node (C1 = A)</a:t>
            </a:r>
          </a:p>
        </p:txBody>
      </p:sp>
      <p:sp>
        <p:nvSpPr>
          <p:cNvPr id="5" name="Card"/>
          <p:cNvSpPr/>
          <p:nvPr/>
        </p:nvSpPr>
        <p:spPr>
          <a:xfrm>
            <a:off x="502920" y="1051560"/>
            <a:ext cx="5486400" cy="4069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61288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864"/>
                </a:solidFill>
                <a:latin typeface="Calibri"/>
              </a:rPr>
              <a:t>LEFT: cont1 ≤ 2.75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IDs 1, 3   |   targets: 10,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Mean</a:t>
            </a:r>
          </a:p>
        </p:txBody>
      </p:sp>
      <p:pic>
        <p:nvPicPr>
          <p:cNvPr id="9" name="Formula" descr="f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796" y="2404872"/>
            <a:ext cx="2136648" cy="435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300532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MSE</a:t>
            </a:r>
          </a:p>
        </p:txBody>
      </p:sp>
      <p:pic>
        <p:nvPicPr>
          <p:cNvPr id="11" name="Formula" descr="f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576" y="3352800"/>
            <a:ext cx="3371088" cy="499871"/>
          </a:xfrm>
          <a:prstGeom prst="rect">
            <a:avLst/>
          </a:prstGeom>
        </p:spPr>
      </p:pic>
      <p:pic>
        <p:nvPicPr>
          <p:cNvPr id="12" name="Formula" descr="f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5415" y="3944112"/>
            <a:ext cx="2121408" cy="438912"/>
          </a:xfrm>
          <a:prstGeom prst="rect">
            <a:avLst/>
          </a:prstGeom>
        </p:spPr>
      </p:pic>
      <p:sp>
        <p:nvSpPr>
          <p:cNvPr id="13" name="Card"/>
          <p:cNvSpPr/>
          <p:nvPr/>
        </p:nvSpPr>
        <p:spPr>
          <a:xfrm>
            <a:off x="6199632" y="1051560"/>
            <a:ext cx="5486400" cy="4069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161288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864"/>
                </a:solidFill>
                <a:latin typeface="Calibri"/>
              </a:rPr>
              <a:t>RIGHT: cont1 &gt; 2.75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55448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IDs 2, 7   |   targets: 12, 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05740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Mean</a:t>
            </a:r>
          </a:p>
        </p:txBody>
      </p:sp>
      <p:pic>
        <p:nvPicPr>
          <p:cNvPr id="17" name="Formula" descr="f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6888" y="2404872"/>
            <a:ext cx="2151888" cy="4358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82512" y="300532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MSE</a:t>
            </a:r>
          </a:p>
        </p:txBody>
      </p:sp>
      <p:pic>
        <p:nvPicPr>
          <p:cNvPr id="19" name="Formula" descr="f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9668" y="3352800"/>
            <a:ext cx="3386328" cy="499871"/>
          </a:xfrm>
          <a:prstGeom prst="rect">
            <a:avLst/>
          </a:prstGeom>
        </p:spPr>
      </p:pic>
      <p:pic>
        <p:nvPicPr>
          <p:cNvPr id="20" name="Formula" descr="f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3944112"/>
            <a:ext cx="2121408" cy="438912"/>
          </a:xfrm>
          <a:prstGeom prst="rect">
            <a:avLst/>
          </a:prstGeom>
        </p:spPr>
      </p:pic>
      <p:sp>
        <p:nvSpPr>
          <p:cNvPr id="21" name="Weighted card"/>
          <p:cNvSpPr/>
          <p:nvPr/>
        </p:nvSpPr>
        <p:spPr>
          <a:xfrm>
            <a:off x="502920" y="5303520"/>
            <a:ext cx="11183112" cy="123444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76672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75623"/>
                </a:solidFill>
                <a:latin typeface="Calibri"/>
              </a:rPr>
              <a:t>Weighted MSE</a:t>
            </a:r>
          </a:p>
        </p:txBody>
      </p:sp>
      <p:pic>
        <p:nvPicPr>
          <p:cNvPr id="23" name="Weighted formula" descr="f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6287" y="5760720"/>
            <a:ext cx="6065520" cy="46329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r"/>
          <p:cNvSpPr/>
          <p:nvPr/>
        </p:nvSpPr>
        <p:spPr>
          <a:xfrm>
            <a:off x="530352" y="384048"/>
            <a:ext cx="384048" cy="384048"/>
          </a:xfrm>
          <a:prstGeom prst="star5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1005840" y="274320"/>
            <a:ext cx="82296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1F1F"/>
                </a:solidFill>
                <a:latin typeface="Calibri"/>
              </a:rPr>
              <a:t>cont1 — Split 3: Threshold = 3.25</a:t>
            </a:r>
          </a:p>
        </p:txBody>
      </p:sp>
      <p:sp>
        <p:nvSpPr>
          <p:cNvPr id="4" name="Location tag"/>
          <p:cNvSpPr txBox="1"/>
          <p:nvPr/>
        </p:nvSpPr>
        <p:spPr>
          <a:xfrm>
            <a:off x="8138160" y="384048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Level 2  ·  Left node (C1 = A)</a:t>
            </a:r>
          </a:p>
        </p:txBody>
      </p:sp>
      <p:sp>
        <p:nvSpPr>
          <p:cNvPr id="5" name="Card"/>
          <p:cNvSpPr/>
          <p:nvPr/>
        </p:nvSpPr>
        <p:spPr>
          <a:xfrm>
            <a:off x="502920" y="1051560"/>
            <a:ext cx="5486400" cy="4069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61288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864"/>
                </a:solidFill>
                <a:latin typeface="Calibri"/>
              </a:rPr>
              <a:t>LEFT: cont1 ≤ 3.25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IDs 1, 2, 3   |   targets: 10, 12,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Mean</a:t>
            </a:r>
          </a:p>
        </p:txBody>
      </p:sp>
      <p:pic>
        <p:nvPicPr>
          <p:cNvPr id="9" name="Formula" descr="f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783" y="2404872"/>
            <a:ext cx="2328672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3008376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MSE</a:t>
            </a:r>
          </a:p>
        </p:txBody>
      </p:sp>
      <p:pic>
        <p:nvPicPr>
          <p:cNvPr id="11" name="Formula" descr="f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528" y="3355848"/>
            <a:ext cx="4139183" cy="499871"/>
          </a:xfrm>
          <a:prstGeom prst="rect">
            <a:avLst/>
          </a:prstGeom>
        </p:spPr>
      </p:pic>
      <p:pic>
        <p:nvPicPr>
          <p:cNvPr id="12" name="Formula" descr="f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0655" y="3947160"/>
            <a:ext cx="2090928" cy="438912"/>
          </a:xfrm>
          <a:prstGeom prst="rect">
            <a:avLst/>
          </a:prstGeom>
        </p:spPr>
      </p:pic>
      <p:sp>
        <p:nvSpPr>
          <p:cNvPr id="13" name="Card"/>
          <p:cNvSpPr/>
          <p:nvPr/>
        </p:nvSpPr>
        <p:spPr>
          <a:xfrm>
            <a:off x="6199632" y="1051560"/>
            <a:ext cx="5486400" cy="4069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161288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864"/>
                </a:solidFill>
                <a:latin typeface="Calibri"/>
              </a:rPr>
              <a:t>RIGHT: cont1 &gt; 3.25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55448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IDs 7   |   targets: 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05740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Mean</a:t>
            </a:r>
          </a:p>
        </p:txBody>
      </p:sp>
      <p:pic>
        <p:nvPicPr>
          <p:cNvPr id="17" name="Formula" descr="f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5152" y="2404872"/>
            <a:ext cx="975360" cy="329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82512" y="289864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MSE</a:t>
            </a:r>
          </a:p>
        </p:txBody>
      </p:sp>
      <p:pic>
        <p:nvPicPr>
          <p:cNvPr id="19" name="Formula" descr="f2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3246120"/>
            <a:ext cx="2816352" cy="371856"/>
          </a:xfrm>
          <a:prstGeom prst="rect">
            <a:avLst/>
          </a:prstGeom>
        </p:spPr>
      </p:pic>
      <p:sp>
        <p:nvSpPr>
          <p:cNvPr id="20" name="Weighted card"/>
          <p:cNvSpPr/>
          <p:nvPr/>
        </p:nvSpPr>
        <p:spPr>
          <a:xfrm>
            <a:off x="502920" y="5303520"/>
            <a:ext cx="11183112" cy="123444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376672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75623"/>
                </a:solidFill>
                <a:latin typeface="Calibri"/>
              </a:rPr>
              <a:t>Weighted MSE</a:t>
            </a:r>
          </a:p>
        </p:txBody>
      </p:sp>
      <p:pic>
        <p:nvPicPr>
          <p:cNvPr id="22" name="Weighted formula" descr="f2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9416" y="5760720"/>
            <a:ext cx="4779264" cy="46634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274320"/>
            <a:ext cx="82296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1F1F"/>
                </a:solidFill>
                <a:latin typeface="Calibri"/>
              </a:rPr>
              <a:t>FINAL RESULTS FOR cont1</a:t>
            </a:r>
          </a:p>
        </p:txBody>
      </p:sp>
      <p:sp>
        <p:nvSpPr>
          <p:cNvPr id="3" name="Location tag"/>
          <p:cNvSpPr txBox="1"/>
          <p:nvPr/>
        </p:nvSpPr>
        <p:spPr>
          <a:xfrm>
            <a:off x="8138160" y="384048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Level 2  ·  Left node (C1 = A)</a:t>
            </a:r>
          </a:p>
        </p:txBody>
      </p:sp>
      <p:graphicFrame>
        <p:nvGraphicFramePr>
          <p:cNvPr id="4" name="Results"/>
          <p:cNvGraphicFramePr>
            <a:graphicFrameLocks noGrp="1"/>
          </p:cNvGraphicFramePr>
          <p:nvPr/>
        </p:nvGraphicFramePr>
        <p:xfrm>
          <a:off x="2011680" y="1371600"/>
          <a:ext cx="8229600" cy="22677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94560"/>
                <a:gridCol w="2743200"/>
                <a:gridCol w="3291840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1F1F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1F1F"/>
                          </a:solidFill>
                          <a:latin typeface="Calibri"/>
                        </a:rPr>
                        <a:t>Weighted MSE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1F1F"/>
                          </a:solidFill>
                          <a:latin typeface="Calibri"/>
                        </a:rPr>
                        <a:t>Impurity reduction (1.25 − W)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F1F1F"/>
                          </a:solidFill>
                          <a:latin typeface="Calibri"/>
                        </a:rPr>
                        <a:t>2.25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F1F1F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F1F1F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1F1F"/>
                          </a:solidFill>
                          <a:latin typeface="Calibri"/>
                        </a:rPr>
                        <a:t>2.75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1F1F"/>
                          </a:solidFill>
                          <a:latin typeface="Calibri"/>
                        </a:rPr>
                        <a:t>0.25  (BEST)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1F1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F1F1F"/>
                          </a:solidFill>
                          <a:latin typeface="Calibri"/>
                        </a:rPr>
                        <a:t>3.25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F1F1F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F1F1F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274320"/>
            <a:ext cx="82296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1F1F"/>
                </a:solidFill>
                <a:latin typeface="Calibri"/>
              </a:rPr>
              <a:t>STEP 3 — Continuous Feature: cont2</a:t>
            </a:r>
          </a:p>
        </p:txBody>
      </p:sp>
      <p:sp>
        <p:nvSpPr>
          <p:cNvPr id="3" name="Location tag"/>
          <p:cNvSpPr txBox="1"/>
          <p:nvPr/>
        </p:nvSpPr>
        <p:spPr>
          <a:xfrm>
            <a:off x="8138160" y="384048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Level 2  ·  Left node (C1 = A)</a:t>
            </a:r>
          </a:p>
        </p:txBody>
      </p:sp>
      <p:graphicFrame>
        <p:nvGraphicFramePr>
          <p:cNvPr id="4" name="Sorted data"/>
          <p:cNvGraphicFramePr>
            <a:graphicFrameLocks noGrp="1"/>
          </p:cNvGraphicFramePr>
          <p:nvPr/>
        </p:nvGraphicFramePr>
        <p:xfrm>
          <a:off x="502920" y="1188720"/>
          <a:ext cx="4206240" cy="2286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1F1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1F1F"/>
                          </a:solidFill>
                          <a:latin typeface="Calibri"/>
                        </a:rPr>
                        <a:t>cont2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1F1F"/>
                          </a:solidFill>
                          <a:latin typeface="Calibri"/>
                        </a:rPr>
                        <a:t>target (y)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0" y="1188720"/>
            <a:ext cx="6035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1F1F"/>
                </a:solidFill>
                <a:latin typeface="Calibri"/>
              </a:rPr>
              <a:t>Possible split thresholds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737360"/>
            <a:ext cx="60350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1F1F"/>
                </a:solidFill>
                <a:latin typeface="Calibri"/>
              </a:rPr>
              <a:t>Sorted values: </a:t>
            </a:r>
            <a:r>
              <a:rPr sz="1700" b="0">
                <a:solidFill>
                  <a:srgbClr val="1F1F1F"/>
                </a:solidFill>
                <a:latin typeface="Calibri"/>
              </a:rPr>
              <a:t>5, 5, 6, 6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F1F1F"/>
                </a:solidFill>
                <a:latin typeface="Calibri"/>
              </a:rPr>
              <a:t>Unique values: </a:t>
            </a:r>
            <a:r>
              <a:rPr sz="1700" b="0">
                <a:solidFill>
                  <a:srgbClr val="1F1F1F"/>
                </a:solidFill>
                <a:latin typeface="Calibri"/>
              </a:rPr>
              <a:t>5, 6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743200"/>
            <a:ext cx="60350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1F1F"/>
                </a:solidFill>
                <a:latin typeface="Calibri"/>
              </a:rPr>
              <a:t>Midpoints between neighbouring unique values: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3154680"/>
            <a:ext cx="603504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1F1F"/>
                </a:solidFill>
                <a:latin typeface="Calibri"/>
              </a:rPr>
              <a:t>(5 + 6) / 2 = 5.5</a:t>
            </a:r>
          </a:p>
        </p:txBody>
      </p:sp>
      <p:sp>
        <p:nvSpPr>
          <p:cNvPr id="9" name="Card"/>
          <p:cNvSpPr/>
          <p:nvPr/>
        </p:nvSpPr>
        <p:spPr>
          <a:xfrm>
            <a:off x="5669280" y="4754880"/>
            <a:ext cx="6035040" cy="109728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Threshold set" descr="f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680" y="5029200"/>
            <a:ext cx="1158240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r"/>
          <p:cNvSpPr/>
          <p:nvPr/>
        </p:nvSpPr>
        <p:spPr>
          <a:xfrm>
            <a:off x="530352" y="384048"/>
            <a:ext cx="384048" cy="384048"/>
          </a:xfrm>
          <a:prstGeom prst="star5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1005840" y="274320"/>
            <a:ext cx="82296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1F1F"/>
                </a:solidFill>
                <a:latin typeface="Calibri"/>
              </a:rPr>
              <a:t>cont2 — Split 1: Threshold = 5.5</a:t>
            </a:r>
          </a:p>
        </p:txBody>
      </p:sp>
      <p:sp>
        <p:nvSpPr>
          <p:cNvPr id="4" name="Location tag"/>
          <p:cNvSpPr txBox="1"/>
          <p:nvPr/>
        </p:nvSpPr>
        <p:spPr>
          <a:xfrm>
            <a:off x="8138160" y="384048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Level 2  ·  Left node (C1 = A)</a:t>
            </a:r>
          </a:p>
        </p:txBody>
      </p:sp>
      <p:sp>
        <p:nvSpPr>
          <p:cNvPr id="5" name="Card"/>
          <p:cNvSpPr/>
          <p:nvPr/>
        </p:nvSpPr>
        <p:spPr>
          <a:xfrm>
            <a:off x="502920" y="1051560"/>
            <a:ext cx="5486400" cy="4069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61288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864"/>
                </a:solidFill>
                <a:latin typeface="Calibri"/>
              </a:rPr>
              <a:t>LEFT: cont2 ≤ 5.5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IDs 1, 3   |   targets: 10,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Mean</a:t>
            </a:r>
          </a:p>
        </p:txBody>
      </p:sp>
      <p:pic>
        <p:nvPicPr>
          <p:cNvPr id="9" name="Formula" descr="f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796" y="2404872"/>
            <a:ext cx="2136648" cy="435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300532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MSE</a:t>
            </a:r>
          </a:p>
        </p:txBody>
      </p:sp>
      <p:pic>
        <p:nvPicPr>
          <p:cNvPr id="11" name="Formula" descr="f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576" y="3352800"/>
            <a:ext cx="3371088" cy="499871"/>
          </a:xfrm>
          <a:prstGeom prst="rect">
            <a:avLst/>
          </a:prstGeom>
        </p:spPr>
      </p:pic>
      <p:pic>
        <p:nvPicPr>
          <p:cNvPr id="12" name="Formula" descr="f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5415" y="3944112"/>
            <a:ext cx="2121408" cy="438912"/>
          </a:xfrm>
          <a:prstGeom prst="rect">
            <a:avLst/>
          </a:prstGeom>
        </p:spPr>
      </p:pic>
      <p:sp>
        <p:nvSpPr>
          <p:cNvPr id="13" name="Card"/>
          <p:cNvSpPr/>
          <p:nvPr/>
        </p:nvSpPr>
        <p:spPr>
          <a:xfrm>
            <a:off x="6199632" y="1051560"/>
            <a:ext cx="5486400" cy="4069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161288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864"/>
                </a:solidFill>
                <a:latin typeface="Calibri"/>
              </a:rPr>
              <a:t>RIGHT: cont2 &gt; 5.5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55448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IDs 2, 7   |   targets: 12, 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05740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Mean</a:t>
            </a:r>
          </a:p>
        </p:txBody>
      </p:sp>
      <p:pic>
        <p:nvPicPr>
          <p:cNvPr id="17" name="Formula" descr="f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6888" y="2404872"/>
            <a:ext cx="2151888" cy="4358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82512" y="300532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MSE</a:t>
            </a:r>
          </a:p>
        </p:txBody>
      </p:sp>
      <p:pic>
        <p:nvPicPr>
          <p:cNvPr id="19" name="Formula" descr="f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9668" y="3352800"/>
            <a:ext cx="3386328" cy="499871"/>
          </a:xfrm>
          <a:prstGeom prst="rect">
            <a:avLst/>
          </a:prstGeom>
        </p:spPr>
      </p:pic>
      <p:pic>
        <p:nvPicPr>
          <p:cNvPr id="20" name="Formula" descr="f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3944112"/>
            <a:ext cx="2121408" cy="438912"/>
          </a:xfrm>
          <a:prstGeom prst="rect">
            <a:avLst/>
          </a:prstGeom>
        </p:spPr>
      </p:pic>
      <p:sp>
        <p:nvSpPr>
          <p:cNvPr id="21" name="Weighted card"/>
          <p:cNvSpPr/>
          <p:nvPr/>
        </p:nvSpPr>
        <p:spPr>
          <a:xfrm>
            <a:off x="502920" y="5303520"/>
            <a:ext cx="11183112" cy="123444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76672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75623"/>
                </a:solidFill>
                <a:latin typeface="Calibri"/>
              </a:rPr>
              <a:t>Weighted MSE</a:t>
            </a:r>
          </a:p>
        </p:txBody>
      </p:sp>
      <p:pic>
        <p:nvPicPr>
          <p:cNvPr id="23" name="Weighted formula" descr="f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6287" y="5760720"/>
            <a:ext cx="6065520" cy="46329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274320"/>
            <a:ext cx="82296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1F1F"/>
                </a:solidFill>
                <a:latin typeface="Calibri"/>
              </a:rPr>
              <a:t>SUMMARY — Left Node (C1 = A)</a:t>
            </a:r>
          </a:p>
        </p:txBody>
      </p:sp>
      <p:sp>
        <p:nvSpPr>
          <p:cNvPr id="3" name="Location tag"/>
          <p:cNvSpPr txBox="1"/>
          <p:nvPr/>
        </p:nvSpPr>
        <p:spPr>
          <a:xfrm>
            <a:off x="8138160" y="384048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Level 2  ·  Left node (C1 = A)</a:t>
            </a:r>
          </a:p>
        </p:txBody>
      </p:sp>
      <p:graphicFrame>
        <p:nvGraphicFramePr>
          <p:cNvPr id="4" name="Node summary"/>
          <p:cNvGraphicFramePr>
            <a:graphicFrameLocks noGrp="1"/>
          </p:cNvGraphicFramePr>
          <p:nvPr/>
        </p:nvGraphicFramePr>
        <p:xfrm>
          <a:off x="1097280" y="1280160"/>
          <a:ext cx="10241280" cy="22677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011680"/>
                <a:gridCol w="2377440"/>
                <a:gridCol w="2377440"/>
                <a:gridCol w="34747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1F1F1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F1F1F"/>
                          </a:solidFill>
                          <a:latin typeface="Calibri"/>
                        </a:rPr>
                        <a:t>Best split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F1F1F"/>
                          </a:solidFill>
                          <a:latin typeface="Calibri"/>
                        </a:rPr>
                        <a:t>Weighted MSE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F1F1F"/>
                          </a:solidFill>
                          <a:latin typeface="Calibri"/>
                        </a:rPr>
                        <a:t>Impurity reduction (1.25 − W)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1F1F1F"/>
                          </a:solidFill>
                          <a:latin typeface="Calibri"/>
                        </a:rPr>
                        <a:t>C2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F1F1F"/>
                          </a:solidFill>
                          <a:latin typeface="Calibri"/>
                        </a:rPr>
                        <a:t>X vs Y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F1F1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F1F1F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1F1F1F"/>
                          </a:solidFill>
                          <a:latin typeface="Calibri"/>
                        </a:rPr>
                        <a:t>cont1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F1F1F"/>
                          </a:solidFill>
                          <a:latin typeface="Calibri"/>
                        </a:rPr>
                        <a:t>≤ 2.75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F1F1F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F1F1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1F1F1F"/>
                          </a:solidFill>
                          <a:latin typeface="Calibri"/>
                        </a:rPr>
                        <a:t>cont2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F1F1F"/>
                          </a:solidFill>
                          <a:latin typeface="Calibri"/>
                        </a:rPr>
                        <a:t>≤ 5.5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F1F1F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F1F1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</a:tr>
            </a:tbl>
          </a:graphicData>
        </a:graphic>
      </p:graphicFrame>
      <p:sp>
        <p:nvSpPr>
          <p:cNvPr id="5" name="Decision"/>
          <p:cNvSpPr/>
          <p:nvPr/>
        </p:nvSpPr>
        <p:spPr>
          <a:xfrm>
            <a:off x="1097280" y="4297680"/>
            <a:ext cx="10058400" cy="201168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509760" cy="1828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>
                <a:solidFill>
                  <a:srgbClr val="375623"/>
                </a:solidFill>
                <a:latin typeface="Calibri"/>
              </a:rPr>
              <a:t>Decision: split on cont1 ≤ 2.75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1F1F1F"/>
                </a:solidFill>
                <a:latin typeface="Calibri"/>
              </a:rPr>
              <a:t>cont1 ≤ 2.75 and cont2 ≤ 5.5 create the same partition (tie), so we keep cont1.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1F1F1F"/>
                </a:solidFill>
                <a:latin typeface="Calibri"/>
              </a:rPr>
              <a:t>Left child: IDs 1, 3 → mean 10.5, MSE 0.25.   Right child: IDs 2, 7 → mean 12.5, MSE 0.25.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274320"/>
            <a:ext cx="82296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1F1F"/>
                </a:solidFill>
                <a:latin typeface="Calibri"/>
              </a:rPr>
              <a:t>LEVEL 2 — Right Node (C1 = B)</a:t>
            </a:r>
          </a:p>
        </p:txBody>
      </p:sp>
      <p:sp>
        <p:nvSpPr>
          <p:cNvPr id="3" name="Location tag"/>
          <p:cNvSpPr txBox="1"/>
          <p:nvPr/>
        </p:nvSpPr>
        <p:spPr>
          <a:xfrm>
            <a:off x="8138160" y="384048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Level 2  ·  Right node (C1 = B)</a:t>
            </a:r>
          </a:p>
        </p:txBody>
      </p:sp>
      <p:graphicFrame>
        <p:nvGraphicFramePr>
          <p:cNvPr id="4" name="Node data"/>
          <p:cNvGraphicFramePr>
            <a:graphicFrameLocks noGrp="1"/>
          </p:cNvGraphicFramePr>
          <p:nvPr/>
        </p:nvGraphicFramePr>
        <p:xfrm>
          <a:off x="502920" y="1188720"/>
          <a:ext cx="5577840" cy="2286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31520"/>
                <a:gridCol w="731520"/>
                <a:gridCol w="731520"/>
                <a:gridCol w="1005840"/>
                <a:gridCol w="100584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F1F1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F1F1F"/>
                          </a:solidFill>
                          <a:latin typeface="Calibri"/>
                        </a:rPr>
                        <a:t>C1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F1F1F"/>
                          </a:solidFill>
                          <a:latin typeface="Calibri"/>
                        </a:rPr>
                        <a:t>C2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F1F1F"/>
                          </a:solidFill>
                          <a:latin typeface="Calibri"/>
                        </a:rPr>
                        <a:t>cont1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F1F1F"/>
                          </a:solidFill>
                          <a:latin typeface="Calibri"/>
                        </a:rPr>
                        <a:t>cont2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F1F1F"/>
                          </a:solidFill>
                          <a:latin typeface="Calibri"/>
                        </a:rPr>
                        <a:t>target (y)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7.0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8.0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Y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7.5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0" y="1188720"/>
            <a:ext cx="51206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1F1F"/>
                </a:solidFill>
                <a:latin typeface="Calibri"/>
              </a:rPr>
              <a:t>Candidates to evaluate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91640"/>
            <a:ext cx="5120640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F1F1F"/>
                </a:solidFill>
                <a:latin typeface="Calibri"/>
              </a:rPr>
              <a:t>C1: </a:t>
            </a:r>
            <a:r>
              <a:rPr sz="1700" b="0">
                <a:solidFill>
                  <a:srgbClr val="1F1F1F"/>
                </a:solidFill>
                <a:latin typeface="Calibri"/>
              </a:rPr>
              <a:t>every row has C1 = B, so it cannot split this node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1F1F1F"/>
                </a:solidFill>
                <a:latin typeface="Calibri"/>
              </a:rPr>
              <a:t>C2: </a:t>
            </a:r>
            <a:r>
              <a:rPr sz="1700" b="0">
                <a:solidFill>
                  <a:srgbClr val="1F1F1F"/>
                </a:solidFill>
                <a:latin typeface="Calibri"/>
              </a:rPr>
              <a:t>X vs Y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1F1F1F"/>
                </a:solidFill>
                <a:latin typeface="Calibri"/>
              </a:rPr>
              <a:t>cont1: </a:t>
            </a:r>
            <a:r>
              <a:rPr sz="1700" b="0">
                <a:solidFill>
                  <a:srgbClr val="1F1F1F"/>
                </a:solidFill>
                <a:latin typeface="Calibri"/>
              </a:rPr>
              <a:t>midpoint thresholds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1F1F1F"/>
                </a:solidFill>
                <a:latin typeface="Calibri"/>
              </a:rPr>
              <a:t>cont2: </a:t>
            </a:r>
            <a:r>
              <a:rPr sz="1700" b="0">
                <a:solidFill>
                  <a:srgbClr val="1F1F1F"/>
                </a:solidFill>
                <a:latin typeface="Calibri"/>
              </a:rPr>
              <a:t>midpoint thresholds</a:t>
            </a:r>
          </a:p>
        </p:txBody>
      </p:sp>
      <p:sp>
        <p:nvSpPr>
          <p:cNvPr id="7" name="Card"/>
          <p:cNvSpPr/>
          <p:nvPr/>
        </p:nvSpPr>
        <p:spPr>
          <a:xfrm>
            <a:off x="502920" y="3931920"/>
            <a:ext cx="11183112" cy="256032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005072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3864"/>
                </a:solidFill>
                <a:latin typeface="Calibri"/>
              </a:rPr>
              <a:t>Node mean and MSE (the parent impurity)</a:t>
            </a:r>
          </a:p>
        </p:txBody>
      </p:sp>
      <p:pic>
        <p:nvPicPr>
          <p:cNvPr id="9" name="Formula" descr="f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348" y="4480560"/>
            <a:ext cx="2819400" cy="435864"/>
          </a:xfrm>
          <a:prstGeom prst="rect">
            <a:avLst/>
          </a:prstGeom>
        </p:spPr>
      </p:pic>
      <p:pic>
        <p:nvPicPr>
          <p:cNvPr id="10" name="Formula" descr="f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504" y="5053584"/>
            <a:ext cx="5657088" cy="499871"/>
          </a:xfrm>
          <a:prstGeom prst="rect">
            <a:avLst/>
          </a:prstGeom>
        </p:spPr>
      </p:pic>
      <p:pic>
        <p:nvPicPr>
          <p:cNvPr id="11" name="Formula" descr="f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9892" y="5626608"/>
            <a:ext cx="3258312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274320"/>
            <a:ext cx="82296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1F1F"/>
                </a:solidFill>
                <a:latin typeface="Calibri"/>
              </a:rPr>
              <a:t>STEP 1 — Evaluate categorical feature C2</a:t>
            </a:r>
          </a:p>
        </p:txBody>
      </p:sp>
      <p:sp>
        <p:nvSpPr>
          <p:cNvPr id="3" name="Location tag"/>
          <p:cNvSpPr txBox="1"/>
          <p:nvPr/>
        </p:nvSpPr>
        <p:spPr>
          <a:xfrm>
            <a:off x="8138160" y="384048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Level 2  ·  Right node (C1 = B)</a:t>
            </a:r>
          </a:p>
        </p:txBody>
      </p:sp>
      <p:sp>
        <p:nvSpPr>
          <p:cNvPr id="4" name="Card"/>
          <p:cNvSpPr/>
          <p:nvPr/>
        </p:nvSpPr>
        <p:spPr>
          <a:xfrm>
            <a:off x="502920" y="1051560"/>
            <a:ext cx="5486400" cy="4069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61288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864"/>
                </a:solidFill>
                <a:latin typeface="Calibri"/>
              </a:rPr>
              <a:t>Group C2 = 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IDs 4, 8   |   targets: 20,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Mean</a:t>
            </a:r>
          </a:p>
        </p:txBody>
      </p:sp>
      <p:pic>
        <p:nvPicPr>
          <p:cNvPr id="8" name="Formula" descr="f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556" y="2404872"/>
            <a:ext cx="2167128" cy="4358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300532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MSE</a:t>
            </a:r>
          </a:p>
        </p:txBody>
      </p:sp>
      <p:pic>
        <p:nvPicPr>
          <p:cNvPr id="10" name="Formula" descr="f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859" y="3352800"/>
            <a:ext cx="3398520" cy="499871"/>
          </a:xfrm>
          <a:prstGeom prst="rect">
            <a:avLst/>
          </a:prstGeom>
        </p:spPr>
      </p:pic>
      <p:pic>
        <p:nvPicPr>
          <p:cNvPr id="11" name="Formula" descr="f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5415" y="3944112"/>
            <a:ext cx="2121408" cy="438912"/>
          </a:xfrm>
          <a:prstGeom prst="rect">
            <a:avLst/>
          </a:prstGeom>
        </p:spPr>
      </p:pic>
      <p:sp>
        <p:nvSpPr>
          <p:cNvPr id="12" name="Card"/>
          <p:cNvSpPr/>
          <p:nvPr/>
        </p:nvSpPr>
        <p:spPr>
          <a:xfrm>
            <a:off x="6199632" y="1051560"/>
            <a:ext cx="5486400" cy="4069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161288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864"/>
                </a:solidFill>
                <a:latin typeface="Calibri"/>
              </a:rPr>
              <a:t>Group C2 = 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55448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IDs 5, 6   |   targets: 22, 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05740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Mean</a:t>
            </a:r>
          </a:p>
        </p:txBody>
      </p:sp>
      <p:pic>
        <p:nvPicPr>
          <p:cNvPr id="16" name="Formula" descr="f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3652" y="2404872"/>
            <a:ext cx="2118360" cy="4358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82512" y="300532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MSE</a:t>
            </a:r>
          </a:p>
        </p:txBody>
      </p:sp>
      <p:pic>
        <p:nvPicPr>
          <p:cNvPr id="18" name="Formula" descr="f3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7956" y="3352800"/>
            <a:ext cx="3349752" cy="499871"/>
          </a:xfrm>
          <a:prstGeom prst="rect">
            <a:avLst/>
          </a:prstGeom>
        </p:spPr>
      </p:pic>
      <p:pic>
        <p:nvPicPr>
          <p:cNvPr id="19" name="Formula" descr="f3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2128" y="3944112"/>
            <a:ext cx="2121408" cy="438912"/>
          </a:xfrm>
          <a:prstGeom prst="rect">
            <a:avLst/>
          </a:prstGeom>
        </p:spPr>
      </p:pic>
      <p:sp>
        <p:nvSpPr>
          <p:cNvPr id="20" name="Weighted card"/>
          <p:cNvSpPr/>
          <p:nvPr/>
        </p:nvSpPr>
        <p:spPr>
          <a:xfrm>
            <a:off x="502920" y="5303520"/>
            <a:ext cx="11183112" cy="123444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376672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75623"/>
                </a:solidFill>
                <a:latin typeface="Calibri"/>
              </a:rPr>
              <a:t>Weighted MSE</a:t>
            </a:r>
          </a:p>
        </p:txBody>
      </p:sp>
      <p:pic>
        <p:nvPicPr>
          <p:cNvPr id="22" name="Weighted formula" descr="f3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6287" y="5760720"/>
            <a:ext cx="6065520" cy="46329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274320"/>
            <a:ext cx="82296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1F1F"/>
                </a:solidFill>
                <a:latin typeface="Calibri"/>
              </a:rPr>
              <a:t>STEP 2 — Continuous Feature: cont1</a:t>
            </a:r>
          </a:p>
        </p:txBody>
      </p:sp>
      <p:sp>
        <p:nvSpPr>
          <p:cNvPr id="3" name="Location tag"/>
          <p:cNvSpPr txBox="1"/>
          <p:nvPr/>
        </p:nvSpPr>
        <p:spPr>
          <a:xfrm>
            <a:off x="8138160" y="384048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Level 2  ·  Right node (C1 = B)</a:t>
            </a:r>
          </a:p>
        </p:txBody>
      </p:sp>
      <p:graphicFrame>
        <p:nvGraphicFramePr>
          <p:cNvPr id="4" name="Sorted data"/>
          <p:cNvGraphicFramePr>
            <a:graphicFrameLocks noGrp="1"/>
          </p:cNvGraphicFramePr>
          <p:nvPr/>
        </p:nvGraphicFramePr>
        <p:xfrm>
          <a:off x="502920" y="1188720"/>
          <a:ext cx="4206240" cy="2286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1F1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1F1F"/>
                          </a:solidFill>
                          <a:latin typeface="Calibri"/>
                        </a:rPr>
                        <a:t>cont1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1F1F"/>
                          </a:solidFill>
                          <a:latin typeface="Calibri"/>
                        </a:rPr>
                        <a:t>target (y)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7.5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0" y="1188720"/>
            <a:ext cx="6035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1F1F"/>
                </a:solidFill>
                <a:latin typeface="Calibri"/>
              </a:rPr>
              <a:t>Possible split thresholds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737360"/>
            <a:ext cx="60350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1F1F"/>
                </a:solidFill>
                <a:latin typeface="Calibri"/>
              </a:rPr>
              <a:t>Sorted values: </a:t>
            </a:r>
            <a:r>
              <a:rPr sz="1700" b="0">
                <a:solidFill>
                  <a:srgbClr val="1F1F1F"/>
                </a:solidFill>
                <a:latin typeface="Calibri"/>
              </a:rPr>
              <a:t>6.5, 7.0, 7.5, 8.0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F1F1F"/>
                </a:solidFill>
                <a:latin typeface="Calibri"/>
              </a:rPr>
              <a:t>Unique values: </a:t>
            </a:r>
            <a:r>
              <a:rPr sz="1700" b="0">
                <a:solidFill>
                  <a:srgbClr val="1F1F1F"/>
                </a:solidFill>
                <a:latin typeface="Calibri"/>
              </a:rPr>
              <a:t>6.5, 7.0, 7.5, 8.0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743200"/>
            <a:ext cx="60350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1F1F"/>
                </a:solidFill>
                <a:latin typeface="Calibri"/>
              </a:rPr>
              <a:t>Midpoints between neighbouring unique values: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3154680"/>
            <a:ext cx="603504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1F1F"/>
                </a:solidFill>
                <a:latin typeface="Calibri"/>
              </a:rPr>
              <a:t>(6.5 + 7.0) / 2 = 6.75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1F1F"/>
                </a:solidFill>
                <a:latin typeface="Calibri"/>
              </a:rPr>
              <a:t>(7.0 + 7.5) / 2 = 7.25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1F1F"/>
                </a:solidFill>
                <a:latin typeface="Calibri"/>
              </a:rPr>
              <a:t>(7.5 + 8.0) / 2 = 7.75</a:t>
            </a:r>
          </a:p>
        </p:txBody>
      </p:sp>
      <p:sp>
        <p:nvSpPr>
          <p:cNvPr id="9" name="Card"/>
          <p:cNvSpPr/>
          <p:nvPr/>
        </p:nvSpPr>
        <p:spPr>
          <a:xfrm>
            <a:off x="5669280" y="4754880"/>
            <a:ext cx="6035040" cy="109728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Threshold set" descr="f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5029200"/>
            <a:ext cx="2706624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r"/>
          <p:cNvSpPr/>
          <p:nvPr/>
        </p:nvSpPr>
        <p:spPr>
          <a:xfrm>
            <a:off x="530352" y="384048"/>
            <a:ext cx="384048" cy="384048"/>
          </a:xfrm>
          <a:prstGeom prst="star5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1005840" y="274320"/>
            <a:ext cx="82296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1F1F"/>
                </a:solidFill>
                <a:latin typeface="Calibri"/>
              </a:rPr>
              <a:t>cont1 — Split 1: Threshold = 6.75</a:t>
            </a:r>
          </a:p>
        </p:txBody>
      </p:sp>
      <p:sp>
        <p:nvSpPr>
          <p:cNvPr id="4" name="Location tag"/>
          <p:cNvSpPr txBox="1"/>
          <p:nvPr/>
        </p:nvSpPr>
        <p:spPr>
          <a:xfrm>
            <a:off x="8138160" y="384048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Level 2  ·  Right node (C1 = B)</a:t>
            </a:r>
          </a:p>
        </p:txBody>
      </p:sp>
      <p:sp>
        <p:nvSpPr>
          <p:cNvPr id="5" name="Card"/>
          <p:cNvSpPr/>
          <p:nvPr/>
        </p:nvSpPr>
        <p:spPr>
          <a:xfrm>
            <a:off x="502920" y="1051560"/>
            <a:ext cx="5486400" cy="4069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61288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864"/>
                </a:solidFill>
                <a:latin typeface="Calibri"/>
              </a:rPr>
              <a:t>LEFT: cont1 ≤ 6.75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IDs 6   |   targets: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Mean</a:t>
            </a:r>
          </a:p>
        </p:txBody>
      </p:sp>
      <p:pic>
        <p:nvPicPr>
          <p:cNvPr id="9" name="Formula" descr="f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2404872"/>
            <a:ext cx="960120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289864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MSE</a:t>
            </a:r>
          </a:p>
        </p:txBody>
      </p:sp>
      <p:pic>
        <p:nvPicPr>
          <p:cNvPr id="11" name="Formula" descr="f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563" y="3246120"/>
            <a:ext cx="2801112" cy="371856"/>
          </a:xfrm>
          <a:prstGeom prst="rect">
            <a:avLst/>
          </a:prstGeom>
        </p:spPr>
      </p:pic>
      <p:sp>
        <p:nvSpPr>
          <p:cNvPr id="12" name="Card"/>
          <p:cNvSpPr/>
          <p:nvPr/>
        </p:nvSpPr>
        <p:spPr>
          <a:xfrm>
            <a:off x="6199632" y="1051560"/>
            <a:ext cx="5486400" cy="4069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161288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864"/>
                </a:solidFill>
                <a:latin typeface="Calibri"/>
              </a:rPr>
              <a:t>RIGHT: cont1 &gt; 6.75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55448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IDs 4, 5, 8   |   targets: 20, 22, 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05740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Mean</a:t>
            </a:r>
          </a:p>
        </p:txBody>
      </p:sp>
      <p:pic>
        <p:nvPicPr>
          <p:cNvPr id="16" name="Formula" descr="f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0876" y="2404872"/>
            <a:ext cx="2343912" cy="4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82512" y="3008376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MSE</a:t>
            </a:r>
          </a:p>
        </p:txBody>
      </p:sp>
      <p:pic>
        <p:nvPicPr>
          <p:cNvPr id="18" name="Formula" descr="f4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5620" y="3355848"/>
            <a:ext cx="4154423" cy="499871"/>
          </a:xfrm>
          <a:prstGeom prst="rect">
            <a:avLst/>
          </a:prstGeom>
        </p:spPr>
      </p:pic>
      <p:pic>
        <p:nvPicPr>
          <p:cNvPr id="19" name="Formula" descr="f2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7368" y="3947160"/>
            <a:ext cx="2090928" cy="438912"/>
          </a:xfrm>
          <a:prstGeom prst="rect">
            <a:avLst/>
          </a:prstGeom>
        </p:spPr>
      </p:pic>
      <p:sp>
        <p:nvSpPr>
          <p:cNvPr id="20" name="Weighted card"/>
          <p:cNvSpPr/>
          <p:nvPr/>
        </p:nvSpPr>
        <p:spPr>
          <a:xfrm>
            <a:off x="502920" y="5303520"/>
            <a:ext cx="11183112" cy="123444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376672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75623"/>
                </a:solidFill>
                <a:latin typeface="Calibri"/>
              </a:rPr>
              <a:t>Weighted MSE</a:t>
            </a:r>
          </a:p>
        </p:txBody>
      </p:sp>
      <p:pic>
        <p:nvPicPr>
          <p:cNvPr id="22" name="Weighted formula" descr="f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9416" y="5760720"/>
            <a:ext cx="4779264" cy="46634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r"/>
          <p:cNvSpPr/>
          <p:nvPr/>
        </p:nvSpPr>
        <p:spPr>
          <a:xfrm>
            <a:off x="530352" y="384048"/>
            <a:ext cx="384048" cy="384048"/>
          </a:xfrm>
          <a:prstGeom prst="star5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1005840" y="274320"/>
            <a:ext cx="82296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1F1F"/>
                </a:solidFill>
                <a:latin typeface="Calibri"/>
              </a:rPr>
              <a:t>cont1 — Split 2: Threshold = 7.25</a:t>
            </a:r>
          </a:p>
        </p:txBody>
      </p:sp>
      <p:sp>
        <p:nvSpPr>
          <p:cNvPr id="4" name="Location tag"/>
          <p:cNvSpPr txBox="1"/>
          <p:nvPr/>
        </p:nvSpPr>
        <p:spPr>
          <a:xfrm>
            <a:off x="8138160" y="384048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Level 2  ·  Right node (C1 = B)</a:t>
            </a:r>
          </a:p>
        </p:txBody>
      </p:sp>
      <p:sp>
        <p:nvSpPr>
          <p:cNvPr id="5" name="Card"/>
          <p:cNvSpPr/>
          <p:nvPr/>
        </p:nvSpPr>
        <p:spPr>
          <a:xfrm>
            <a:off x="502920" y="1051560"/>
            <a:ext cx="5486400" cy="4069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61288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864"/>
                </a:solidFill>
                <a:latin typeface="Calibri"/>
              </a:rPr>
              <a:t>LEFT: cont1 ≤ 7.25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IDs 4, 6   |   targets: 20,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Mean</a:t>
            </a:r>
          </a:p>
        </p:txBody>
      </p:sp>
      <p:pic>
        <p:nvPicPr>
          <p:cNvPr id="9" name="Formula" descr="f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796" y="2404872"/>
            <a:ext cx="2136648" cy="435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300532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MSE</a:t>
            </a:r>
          </a:p>
        </p:txBody>
      </p:sp>
      <p:pic>
        <p:nvPicPr>
          <p:cNvPr id="11" name="Formula" descr="f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576" y="3352800"/>
            <a:ext cx="3371088" cy="499871"/>
          </a:xfrm>
          <a:prstGeom prst="rect">
            <a:avLst/>
          </a:prstGeom>
        </p:spPr>
      </p:pic>
      <p:pic>
        <p:nvPicPr>
          <p:cNvPr id="12" name="Formula" descr="f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5415" y="3944112"/>
            <a:ext cx="2121408" cy="438912"/>
          </a:xfrm>
          <a:prstGeom prst="rect">
            <a:avLst/>
          </a:prstGeom>
        </p:spPr>
      </p:pic>
      <p:sp>
        <p:nvSpPr>
          <p:cNvPr id="13" name="Card"/>
          <p:cNvSpPr/>
          <p:nvPr/>
        </p:nvSpPr>
        <p:spPr>
          <a:xfrm>
            <a:off x="6199632" y="1051560"/>
            <a:ext cx="5486400" cy="4069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161288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864"/>
                </a:solidFill>
                <a:latin typeface="Calibri"/>
              </a:rPr>
              <a:t>RIGHT: cont1 &gt; 7.25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55448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IDs 5, 8   |   targets: 22, 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05740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Mean</a:t>
            </a:r>
          </a:p>
        </p:txBody>
      </p:sp>
      <p:pic>
        <p:nvPicPr>
          <p:cNvPr id="17" name="Formula" descr="f4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6888" y="2404872"/>
            <a:ext cx="2151888" cy="4328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82512" y="300228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MSE</a:t>
            </a:r>
          </a:p>
        </p:txBody>
      </p:sp>
      <p:pic>
        <p:nvPicPr>
          <p:cNvPr id="19" name="Formula" descr="f4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9668" y="3349752"/>
            <a:ext cx="3386328" cy="499871"/>
          </a:xfrm>
          <a:prstGeom prst="rect">
            <a:avLst/>
          </a:prstGeom>
        </p:spPr>
      </p:pic>
      <p:pic>
        <p:nvPicPr>
          <p:cNvPr id="20" name="Formula" descr="f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3941063"/>
            <a:ext cx="2121408" cy="438912"/>
          </a:xfrm>
          <a:prstGeom prst="rect">
            <a:avLst/>
          </a:prstGeom>
        </p:spPr>
      </p:pic>
      <p:sp>
        <p:nvSpPr>
          <p:cNvPr id="21" name="Weighted card"/>
          <p:cNvSpPr/>
          <p:nvPr/>
        </p:nvSpPr>
        <p:spPr>
          <a:xfrm>
            <a:off x="502920" y="5303520"/>
            <a:ext cx="11183112" cy="123444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76672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75623"/>
                </a:solidFill>
                <a:latin typeface="Calibri"/>
              </a:rPr>
              <a:t>Weighted MSE</a:t>
            </a:r>
          </a:p>
        </p:txBody>
      </p:sp>
      <p:pic>
        <p:nvPicPr>
          <p:cNvPr id="23" name="Weighted formula" descr="f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6287" y="5760720"/>
            <a:ext cx="6065520" cy="46329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r"/>
          <p:cNvSpPr/>
          <p:nvPr/>
        </p:nvSpPr>
        <p:spPr>
          <a:xfrm>
            <a:off x="530352" y="384048"/>
            <a:ext cx="384048" cy="384048"/>
          </a:xfrm>
          <a:prstGeom prst="star5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1005840" y="274320"/>
            <a:ext cx="82296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1F1F"/>
                </a:solidFill>
                <a:latin typeface="Calibri"/>
              </a:rPr>
              <a:t>cont1 — Split 3: Threshold = 7.75</a:t>
            </a:r>
          </a:p>
        </p:txBody>
      </p:sp>
      <p:sp>
        <p:nvSpPr>
          <p:cNvPr id="4" name="Location tag"/>
          <p:cNvSpPr txBox="1"/>
          <p:nvPr/>
        </p:nvSpPr>
        <p:spPr>
          <a:xfrm>
            <a:off x="8138160" y="384048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Level 2  ·  Right node (C1 = B)</a:t>
            </a:r>
          </a:p>
        </p:txBody>
      </p:sp>
      <p:sp>
        <p:nvSpPr>
          <p:cNvPr id="5" name="Card"/>
          <p:cNvSpPr/>
          <p:nvPr/>
        </p:nvSpPr>
        <p:spPr>
          <a:xfrm>
            <a:off x="502920" y="1051560"/>
            <a:ext cx="5486400" cy="4069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61288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864"/>
                </a:solidFill>
                <a:latin typeface="Calibri"/>
              </a:rPr>
              <a:t>LEFT: cont1 ≤ 7.75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IDs 4, 6, 8   |   targets: 20, 19,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Mean</a:t>
            </a:r>
          </a:p>
        </p:txBody>
      </p:sp>
      <p:pic>
        <p:nvPicPr>
          <p:cNvPr id="9" name="Formula" descr="f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687" y="2404872"/>
            <a:ext cx="2340864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3008376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MSE</a:t>
            </a:r>
          </a:p>
        </p:txBody>
      </p:sp>
      <p:pic>
        <p:nvPicPr>
          <p:cNvPr id="11" name="Formula" descr="f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528" y="3355848"/>
            <a:ext cx="4139183" cy="499871"/>
          </a:xfrm>
          <a:prstGeom prst="rect">
            <a:avLst/>
          </a:prstGeom>
        </p:spPr>
      </p:pic>
      <p:pic>
        <p:nvPicPr>
          <p:cNvPr id="12" name="Formula" descr="f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0655" y="3947160"/>
            <a:ext cx="2090928" cy="438912"/>
          </a:xfrm>
          <a:prstGeom prst="rect">
            <a:avLst/>
          </a:prstGeom>
        </p:spPr>
      </p:pic>
      <p:sp>
        <p:nvSpPr>
          <p:cNvPr id="13" name="Card"/>
          <p:cNvSpPr/>
          <p:nvPr/>
        </p:nvSpPr>
        <p:spPr>
          <a:xfrm>
            <a:off x="6199632" y="1051560"/>
            <a:ext cx="5486400" cy="4069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161288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864"/>
                </a:solidFill>
                <a:latin typeface="Calibri"/>
              </a:rPr>
              <a:t>RIGHT: cont1 &gt; 7.75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55448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IDs 5   |   targets: 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05740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Mean</a:t>
            </a:r>
          </a:p>
        </p:txBody>
      </p:sp>
      <p:pic>
        <p:nvPicPr>
          <p:cNvPr id="17" name="Formula" descr="f4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5152" y="2404872"/>
            <a:ext cx="975360" cy="329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82512" y="289864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MSE</a:t>
            </a:r>
          </a:p>
        </p:txBody>
      </p:sp>
      <p:pic>
        <p:nvPicPr>
          <p:cNvPr id="19" name="Formula" descr="f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3246120"/>
            <a:ext cx="2816352" cy="371856"/>
          </a:xfrm>
          <a:prstGeom prst="rect">
            <a:avLst/>
          </a:prstGeom>
        </p:spPr>
      </p:pic>
      <p:sp>
        <p:nvSpPr>
          <p:cNvPr id="20" name="Weighted card"/>
          <p:cNvSpPr/>
          <p:nvPr/>
        </p:nvSpPr>
        <p:spPr>
          <a:xfrm>
            <a:off x="502920" y="5303520"/>
            <a:ext cx="11183112" cy="123444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376672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75623"/>
                </a:solidFill>
                <a:latin typeface="Calibri"/>
              </a:rPr>
              <a:t>Weighted MSE</a:t>
            </a:r>
          </a:p>
        </p:txBody>
      </p:sp>
      <p:pic>
        <p:nvPicPr>
          <p:cNvPr id="22" name="Weighted formula" descr="f2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9416" y="5760720"/>
            <a:ext cx="4779264" cy="46634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274320"/>
            <a:ext cx="82296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1F1F"/>
                </a:solidFill>
                <a:latin typeface="Calibri"/>
              </a:rPr>
              <a:t>FINAL RESULTS FOR cont1</a:t>
            </a:r>
          </a:p>
        </p:txBody>
      </p:sp>
      <p:sp>
        <p:nvSpPr>
          <p:cNvPr id="3" name="Location tag"/>
          <p:cNvSpPr txBox="1"/>
          <p:nvPr/>
        </p:nvSpPr>
        <p:spPr>
          <a:xfrm>
            <a:off x="8138160" y="384048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Level 2  ·  Right node (C1 = B)</a:t>
            </a:r>
          </a:p>
        </p:txBody>
      </p:sp>
      <p:graphicFrame>
        <p:nvGraphicFramePr>
          <p:cNvPr id="4" name="Results"/>
          <p:cNvGraphicFramePr>
            <a:graphicFrameLocks noGrp="1"/>
          </p:cNvGraphicFramePr>
          <p:nvPr/>
        </p:nvGraphicFramePr>
        <p:xfrm>
          <a:off x="2011680" y="1371600"/>
          <a:ext cx="8229600" cy="22677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94560"/>
                <a:gridCol w="2743200"/>
                <a:gridCol w="3291840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1F1F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1F1F"/>
                          </a:solidFill>
                          <a:latin typeface="Calibri"/>
                        </a:rPr>
                        <a:t>Weighted MSE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1F1F"/>
                          </a:solidFill>
                          <a:latin typeface="Calibri"/>
                        </a:rPr>
                        <a:t>Impurity reduction (1.25 − W)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F1F1F"/>
                          </a:solidFill>
                          <a:latin typeface="Calibri"/>
                        </a:rPr>
                        <a:t>6.75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F1F1F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F1F1F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1F1F"/>
                          </a:solidFill>
                          <a:latin typeface="Calibri"/>
                        </a:rPr>
                        <a:t>7.25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1F1F"/>
                          </a:solidFill>
                          <a:latin typeface="Calibri"/>
                        </a:rPr>
                        <a:t>0.25  (BEST)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1F1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F1F1F"/>
                          </a:solidFill>
                          <a:latin typeface="Calibri"/>
                        </a:rPr>
                        <a:t>7.75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F1F1F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F1F1F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274320"/>
            <a:ext cx="82296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1F1F"/>
                </a:solidFill>
                <a:latin typeface="Calibri"/>
              </a:rPr>
              <a:t>STEP 3 — Continuous Feature: cont2</a:t>
            </a:r>
          </a:p>
        </p:txBody>
      </p:sp>
      <p:sp>
        <p:nvSpPr>
          <p:cNvPr id="3" name="Location tag"/>
          <p:cNvSpPr txBox="1"/>
          <p:nvPr/>
        </p:nvSpPr>
        <p:spPr>
          <a:xfrm>
            <a:off x="8138160" y="384048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Level 2  ·  Right node (C1 = B)</a:t>
            </a:r>
          </a:p>
        </p:txBody>
      </p:sp>
      <p:graphicFrame>
        <p:nvGraphicFramePr>
          <p:cNvPr id="4" name="Sorted data"/>
          <p:cNvGraphicFramePr>
            <a:graphicFrameLocks noGrp="1"/>
          </p:cNvGraphicFramePr>
          <p:nvPr/>
        </p:nvGraphicFramePr>
        <p:xfrm>
          <a:off x="502920" y="1188720"/>
          <a:ext cx="4206240" cy="2286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1F1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1F1F"/>
                          </a:solidFill>
                          <a:latin typeface="Calibri"/>
                        </a:rPr>
                        <a:t>cont2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F1F1F"/>
                          </a:solidFill>
                          <a:latin typeface="Calibri"/>
                        </a:rPr>
                        <a:t>target (y)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F1F1F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0" y="1188720"/>
            <a:ext cx="60350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1F1F"/>
                </a:solidFill>
                <a:latin typeface="Calibri"/>
              </a:rPr>
              <a:t>Possible split thresholds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737360"/>
            <a:ext cx="60350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1F1F"/>
                </a:solidFill>
                <a:latin typeface="Calibri"/>
              </a:rPr>
              <a:t>Sorted values: </a:t>
            </a:r>
            <a:r>
              <a:rPr sz="1700" b="0">
                <a:solidFill>
                  <a:srgbClr val="1F1F1F"/>
                </a:solidFill>
                <a:latin typeface="Calibri"/>
              </a:rPr>
              <a:t>9, 10, 10, 11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F1F1F"/>
                </a:solidFill>
                <a:latin typeface="Calibri"/>
              </a:rPr>
              <a:t>Unique values: </a:t>
            </a:r>
            <a:r>
              <a:rPr sz="1700" b="0">
                <a:solidFill>
                  <a:srgbClr val="1F1F1F"/>
                </a:solidFill>
                <a:latin typeface="Calibri"/>
              </a:rPr>
              <a:t>9, 10, 11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743200"/>
            <a:ext cx="60350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1F1F"/>
                </a:solidFill>
                <a:latin typeface="Calibri"/>
              </a:rPr>
              <a:t>Midpoints between neighbouring unique values: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3154680"/>
            <a:ext cx="603504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1F1F"/>
                </a:solidFill>
                <a:latin typeface="Calibri"/>
              </a:rPr>
              <a:t>(9 + 10) / 2 = 9.5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1F1F"/>
                </a:solidFill>
                <a:latin typeface="Calibri"/>
              </a:rPr>
              <a:t>(10 + 11) / 2 = 10.5</a:t>
            </a:r>
          </a:p>
        </p:txBody>
      </p:sp>
      <p:sp>
        <p:nvSpPr>
          <p:cNvPr id="9" name="Card"/>
          <p:cNvSpPr/>
          <p:nvPr/>
        </p:nvSpPr>
        <p:spPr>
          <a:xfrm>
            <a:off x="5669280" y="4754880"/>
            <a:ext cx="6035040" cy="109728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Threshold set" descr="f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636" y="5029200"/>
            <a:ext cx="1862328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r"/>
          <p:cNvSpPr/>
          <p:nvPr/>
        </p:nvSpPr>
        <p:spPr>
          <a:xfrm>
            <a:off x="530352" y="384048"/>
            <a:ext cx="384048" cy="384048"/>
          </a:xfrm>
          <a:prstGeom prst="star5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1005840" y="274320"/>
            <a:ext cx="82296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1F1F"/>
                </a:solidFill>
                <a:latin typeface="Calibri"/>
              </a:rPr>
              <a:t>cont2 — Split 1: Threshold = 9.5</a:t>
            </a:r>
          </a:p>
        </p:txBody>
      </p:sp>
      <p:sp>
        <p:nvSpPr>
          <p:cNvPr id="4" name="Location tag"/>
          <p:cNvSpPr txBox="1"/>
          <p:nvPr/>
        </p:nvSpPr>
        <p:spPr>
          <a:xfrm>
            <a:off x="8138160" y="384048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Level 2  ·  Right node (C1 = B)</a:t>
            </a:r>
          </a:p>
        </p:txBody>
      </p:sp>
      <p:sp>
        <p:nvSpPr>
          <p:cNvPr id="5" name="Card"/>
          <p:cNvSpPr/>
          <p:nvPr/>
        </p:nvSpPr>
        <p:spPr>
          <a:xfrm>
            <a:off x="502920" y="1051560"/>
            <a:ext cx="5486400" cy="4069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61288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864"/>
                </a:solidFill>
                <a:latin typeface="Calibri"/>
              </a:rPr>
              <a:t>LEFT: cont2 ≤ 9.5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IDs 5   |   targets: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Mean</a:t>
            </a:r>
          </a:p>
        </p:txBody>
      </p:sp>
      <p:pic>
        <p:nvPicPr>
          <p:cNvPr id="9" name="Formula" descr="f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2404872"/>
            <a:ext cx="960120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289864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MSE</a:t>
            </a:r>
          </a:p>
        </p:txBody>
      </p:sp>
      <p:pic>
        <p:nvPicPr>
          <p:cNvPr id="11" name="Formula" descr="f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563" y="3246120"/>
            <a:ext cx="2801112" cy="371856"/>
          </a:xfrm>
          <a:prstGeom prst="rect">
            <a:avLst/>
          </a:prstGeom>
        </p:spPr>
      </p:pic>
      <p:sp>
        <p:nvSpPr>
          <p:cNvPr id="12" name="Card"/>
          <p:cNvSpPr/>
          <p:nvPr/>
        </p:nvSpPr>
        <p:spPr>
          <a:xfrm>
            <a:off x="6199632" y="1051560"/>
            <a:ext cx="5486400" cy="4069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161288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864"/>
                </a:solidFill>
                <a:latin typeface="Calibri"/>
              </a:rPr>
              <a:t>RIGHT: cont2 &gt; 9.5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55448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IDs 4, 6, 8   |   targets: 20, 19, 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05740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Mean</a:t>
            </a:r>
          </a:p>
        </p:txBody>
      </p:sp>
      <p:pic>
        <p:nvPicPr>
          <p:cNvPr id="16" name="Formula" descr="f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4780" y="2404872"/>
            <a:ext cx="2356104" cy="4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82512" y="3008376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MSE</a:t>
            </a:r>
          </a:p>
        </p:txBody>
      </p:sp>
      <p:pic>
        <p:nvPicPr>
          <p:cNvPr id="18" name="Formula" descr="f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5620" y="3355848"/>
            <a:ext cx="4154423" cy="499871"/>
          </a:xfrm>
          <a:prstGeom prst="rect">
            <a:avLst/>
          </a:prstGeom>
        </p:spPr>
      </p:pic>
      <p:pic>
        <p:nvPicPr>
          <p:cNvPr id="19" name="Formula" descr="f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7368" y="3947160"/>
            <a:ext cx="2090928" cy="438912"/>
          </a:xfrm>
          <a:prstGeom prst="rect">
            <a:avLst/>
          </a:prstGeom>
        </p:spPr>
      </p:pic>
      <p:sp>
        <p:nvSpPr>
          <p:cNvPr id="20" name="Weighted card"/>
          <p:cNvSpPr/>
          <p:nvPr/>
        </p:nvSpPr>
        <p:spPr>
          <a:xfrm>
            <a:off x="502920" y="5303520"/>
            <a:ext cx="11183112" cy="123444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376672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75623"/>
                </a:solidFill>
                <a:latin typeface="Calibri"/>
              </a:rPr>
              <a:t>Weighted MSE</a:t>
            </a:r>
          </a:p>
        </p:txBody>
      </p:sp>
      <p:pic>
        <p:nvPicPr>
          <p:cNvPr id="22" name="Weighted formula" descr="f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9416" y="5760720"/>
            <a:ext cx="4779264" cy="46634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r"/>
          <p:cNvSpPr/>
          <p:nvPr/>
        </p:nvSpPr>
        <p:spPr>
          <a:xfrm>
            <a:off x="530352" y="384048"/>
            <a:ext cx="384048" cy="384048"/>
          </a:xfrm>
          <a:prstGeom prst="star5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1005840" y="274320"/>
            <a:ext cx="82296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1F1F"/>
                </a:solidFill>
                <a:latin typeface="Calibri"/>
              </a:rPr>
              <a:t>cont2 — Split 2: Threshold = 10.5</a:t>
            </a:r>
          </a:p>
        </p:txBody>
      </p:sp>
      <p:sp>
        <p:nvSpPr>
          <p:cNvPr id="4" name="Location tag"/>
          <p:cNvSpPr txBox="1"/>
          <p:nvPr/>
        </p:nvSpPr>
        <p:spPr>
          <a:xfrm>
            <a:off x="8138160" y="384048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Level 2  ·  Right node (C1 = B)</a:t>
            </a:r>
          </a:p>
        </p:txBody>
      </p:sp>
      <p:sp>
        <p:nvSpPr>
          <p:cNvPr id="5" name="Card"/>
          <p:cNvSpPr/>
          <p:nvPr/>
        </p:nvSpPr>
        <p:spPr>
          <a:xfrm>
            <a:off x="502920" y="1051560"/>
            <a:ext cx="5486400" cy="4069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61288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864"/>
                </a:solidFill>
                <a:latin typeface="Calibri"/>
              </a:rPr>
              <a:t>LEFT: cont2 ≤ 10.5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IDs 4, 5, 6   |   targets: 20, 22,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Mean</a:t>
            </a:r>
          </a:p>
        </p:txBody>
      </p:sp>
      <p:pic>
        <p:nvPicPr>
          <p:cNvPr id="9" name="Formula" descr="f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003" y="2404872"/>
            <a:ext cx="3380232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3008376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MSE</a:t>
            </a:r>
          </a:p>
        </p:txBody>
      </p:sp>
      <p:pic>
        <p:nvPicPr>
          <p:cNvPr id="11" name="Formula" descr="f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55848"/>
            <a:ext cx="5120640" cy="493991"/>
          </a:xfrm>
          <a:prstGeom prst="rect">
            <a:avLst/>
          </a:prstGeom>
        </p:spPr>
      </p:pic>
      <p:pic>
        <p:nvPicPr>
          <p:cNvPr id="12" name="Formula" descr="f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2495" y="3941279"/>
            <a:ext cx="3127248" cy="438912"/>
          </a:xfrm>
          <a:prstGeom prst="rect">
            <a:avLst/>
          </a:prstGeom>
        </p:spPr>
      </p:pic>
      <p:sp>
        <p:nvSpPr>
          <p:cNvPr id="13" name="Card"/>
          <p:cNvSpPr/>
          <p:nvPr/>
        </p:nvSpPr>
        <p:spPr>
          <a:xfrm>
            <a:off x="6199632" y="1051560"/>
            <a:ext cx="5486400" cy="406908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161288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864"/>
                </a:solidFill>
                <a:latin typeface="Calibri"/>
              </a:rPr>
              <a:t>RIGHT: cont2 &gt; 10.5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55448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95959"/>
                </a:solidFill>
                <a:latin typeface="Calibri"/>
              </a:rPr>
              <a:t>IDs 8   |   targets: 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057400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Mean</a:t>
            </a:r>
          </a:p>
        </p:txBody>
      </p:sp>
      <p:pic>
        <p:nvPicPr>
          <p:cNvPr id="17" name="Formula" descr="f5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9724" y="2404872"/>
            <a:ext cx="966216" cy="329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82512" y="289864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1F1F"/>
                </a:solidFill>
                <a:latin typeface="Calibri"/>
              </a:rPr>
              <a:t>MSE</a:t>
            </a:r>
          </a:p>
        </p:txBody>
      </p:sp>
      <p:pic>
        <p:nvPicPr>
          <p:cNvPr id="19" name="Formula" descr="f6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3246120"/>
            <a:ext cx="2816352" cy="371856"/>
          </a:xfrm>
          <a:prstGeom prst="rect">
            <a:avLst/>
          </a:prstGeom>
        </p:spPr>
      </p:pic>
      <p:sp>
        <p:nvSpPr>
          <p:cNvPr id="20" name="Weighted card"/>
          <p:cNvSpPr/>
          <p:nvPr/>
        </p:nvSpPr>
        <p:spPr>
          <a:xfrm>
            <a:off x="502920" y="5303520"/>
            <a:ext cx="11183112" cy="123444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376672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75623"/>
                </a:solidFill>
                <a:latin typeface="Calibri"/>
              </a:rPr>
              <a:t>Weighted MSE</a:t>
            </a:r>
          </a:p>
        </p:txBody>
      </p:sp>
      <p:pic>
        <p:nvPicPr>
          <p:cNvPr id="22" name="Weighted formula" descr="f6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6328" y="5760720"/>
            <a:ext cx="5425440" cy="46634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274320"/>
            <a:ext cx="82296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1F1F"/>
                </a:solidFill>
                <a:latin typeface="Calibri"/>
              </a:rPr>
              <a:t>FINAL RESULTS FOR cont2</a:t>
            </a:r>
          </a:p>
        </p:txBody>
      </p:sp>
      <p:sp>
        <p:nvSpPr>
          <p:cNvPr id="3" name="Location tag"/>
          <p:cNvSpPr txBox="1"/>
          <p:nvPr/>
        </p:nvSpPr>
        <p:spPr>
          <a:xfrm>
            <a:off x="8138160" y="384048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Level 2  ·  Right node (C1 = B)</a:t>
            </a:r>
          </a:p>
        </p:txBody>
      </p:sp>
      <p:graphicFrame>
        <p:nvGraphicFramePr>
          <p:cNvPr id="4" name="Results"/>
          <p:cNvGraphicFramePr>
            <a:graphicFrameLocks noGrp="1"/>
          </p:cNvGraphicFramePr>
          <p:nvPr/>
        </p:nvGraphicFramePr>
        <p:xfrm>
          <a:off x="2011680" y="1371600"/>
          <a:ext cx="8229600" cy="17007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94560"/>
                <a:gridCol w="2743200"/>
                <a:gridCol w="3291840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1F1F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1F1F"/>
                          </a:solidFill>
                          <a:latin typeface="Calibri"/>
                        </a:rPr>
                        <a:t>Weighted MSE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1F1F"/>
                          </a:solidFill>
                          <a:latin typeface="Calibri"/>
                        </a:rPr>
                        <a:t>Impurity reduction (1.25 − W)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1F1F"/>
                          </a:solidFill>
                          <a:latin typeface="Calibri"/>
                        </a:rPr>
                        <a:t>9.5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1F1F"/>
                          </a:solidFill>
                          <a:latin typeface="Calibri"/>
                        </a:rPr>
                        <a:t>0.5  (BEST)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1F1F1F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F1F1F"/>
                          </a:solidFill>
                          <a:latin typeface="Calibri"/>
                        </a:rPr>
                        <a:t>10.5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F1F1F"/>
                          </a:solidFill>
                          <a:latin typeface="Calibri"/>
                        </a:rPr>
                        <a:t>1.167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F1F1F"/>
                          </a:solidFill>
                          <a:latin typeface="Calibri"/>
                        </a:rPr>
                        <a:t>0.083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274320"/>
            <a:ext cx="82296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1F1F"/>
                </a:solidFill>
                <a:latin typeface="Calibri"/>
              </a:rPr>
              <a:t>SUMMARY — Right Node (C1 = B)</a:t>
            </a:r>
          </a:p>
        </p:txBody>
      </p:sp>
      <p:sp>
        <p:nvSpPr>
          <p:cNvPr id="3" name="Location tag"/>
          <p:cNvSpPr txBox="1"/>
          <p:nvPr/>
        </p:nvSpPr>
        <p:spPr>
          <a:xfrm>
            <a:off x="8138160" y="384048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Calibri"/>
              </a:rPr>
              <a:t>Level 2  ·  Right node (C1 = B)</a:t>
            </a:r>
          </a:p>
        </p:txBody>
      </p:sp>
      <p:graphicFrame>
        <p:nvGraphicFramePr>
          <p:cNvPr id="4" name="Node summary"/>
          <p:cNvGraphicFramePr>
            <a:graphicFrameLocks noGrp="1"/>
          </p:cNvGraphicFramePr>
          <p:nvPr/>
        </p:nvGraphicFramePr>
        <p:xfrm>
          <a:off x="1097280" y="1280160"/>
          <a:ext cx="10241280" cy="22677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011680"/>
                <a:gridCol w="2377440"/>
                <a:gridCol w="2377440"/>
                <a:gridCol w="34747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1F1F1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F1F1F"/>
                          </a:solidFill>
                          <a:latin typeface="Calibri"/>
                        </a:rPr>
                        <a:t>Best split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F1F1F"/>
                          </a:solidFill>
                          <a:latin typeface="Calibri"/>
                        </a:rPr>
                        <a:t>Weighted MSE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F1F1F"/>
                          </a:solidFill>
                          <a:latin typeface="Calibri"/>
                        </a:rPr>
                        <a:t>Impurity reduction (1.25 − W)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1F1F1F"/>
                          </a:solidFill>
                          <a:latin typeface="Calibri"/>
                        </a:rPr>
                        <a:t>C2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F1F1F"/>
                          </a:solidFill>
                          <a:latin typeface="Calibri"/>
                        </a:rPr>
                        <a:t>X vs Y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F1F1F"/>
                          </a:solidFill>
                          <a:latin typeface="Calibri"/>
                        </a:rPr>
                        <a:t>1.25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F1F1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1F1F1F"/>
                          </a:solidFill>
                          <a:latin typeface="Calibri"/>
                        </a:rPr>
                        <a:t>cont1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F1F1F"/>
                          </a:solidFill>
                          <a:latin typeface="Calibri"/>
                        </a:rPr>
                        <a:t>≤ 7.25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F1F1F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F1F1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900" b="0">
                          <a:solidFill>
                            <a:srgbClr val="1F1F1F"/>
                          </a:solidFill>
                          <a:latin typeface="Calibri"/>
                        </a:rPr>
                        <a:t>cont2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F1F1F"/>
                          </a:solidFill>
                          <a:latin typeface="Calibri"/>
                        </a:rPr>
                        <a:t>≤ 9.5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F1F1F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F1F1F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Decision"/>
          <p:cNvSpPr/>
          <p:nvPr/>
        </p:nvSpPr>
        <p:spPr>
          <a:xfrm>
            <a:off x="1097280" y="4297680"/>
            <a:ext cx="10058400" cy="201168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509760" cy="1828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>
                <a:solidFill>
                  <a:srgbClr val="375623"/>
                </a:solidFill>
                <a:latin typeface="Calibri"/>
              </a:rPr>
              <a:t>Decision: split on cont1 ≤ 7.25  (a unique winner, no tie)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1F1F1F"/>
                </a:solidFill>
                <a:latin typeface="Calibri"/>
              </a:rPr>
              <a:t>Weighted MSE 0.25 beats every other candidate (next best is 0.50).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1F1F1F"/>
                </a:solidFill>
                <a:latin typeface="Calibri"/>
              </a:rPr>
              <a:t>Left child: IDs 4, 6 → mean 19.5, MSE 0.25.   Right child: IDs 5, 8 → mean 21.5, MSE 0.25.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1F1F"/>
                </a:solidFill>
                <a:latin typeface="Calibri"/>
              </a:rPr>
              <a:t>FINAL REGRESSION TREE (max depth = 2)</a:t>
            </a:r>
          </a:p>
        </p:txBody>
      </p:sp>
      <p:sp>
        <p:nvSpPr>
          <p:cNvPr id="3" name="Root"/>
          <p:cNvSpPr/>
          <p:nvPr/>
        </p:nvSpPr>
        <p:spPr>
          <a:xfrm>
            <a:off x="4251960" y="1188720"/>
            <a:ext cx="3657600" cy="960120"/>
          </a:xfrm>
          <a:prstGeom prst="roundRect">
            <a:avLst>
              <a:gd name="adj" fmla="val 12000"/>
            </a:avLst>
          </a:prstGeom>
          <a:solidFill>
            <a:srgbClr val="DCE6F2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1F3864"/>
                </a:solidFill>
                <a:latin typeface="Calibri"/>
              </a:rPr>
              <a:t>C1 = A ?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1F3864"/>
                </a:solidFill>
                <a:latin typeface="Calibri"/>
              </a:rPr>
              <a:t>n = 8  |  MSE = 21.5</a:t>
            </a:r>
          </a:p>
        </p:txBody>
      </p:sp>
      <p:sp>
        <p:nvSpPr>
          <p:cNvPr id="4" name="Node C1=A"/>
          <p:cNvSpPr/>
          <p:nvPr/>
        </p:nvSpPr>
        <p:spPr>
          <a:xfrm>
            <a:off x="1417320" y="2880360"/>
            <a:ext cx="3108960" cy="960120"/>
          </a:xfrm>
          <a:prstGeom prst="roundRect">
            <a:avLst>
              <a:gd name="adj" fmla="val 12000"/>
            </a:avLst>
          </a:prstGeom>
          <a:solidFill>
            <a:srgbClr val="DCE6F2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1F3864"/>
                </a:solidFill>
                <a:latin typeface="Calibri"/>
              </a:rPr>
              <a:t>cont1 ≤ 2.75 ?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1F3864"/>
                </a:solidFill>
                <a:latin typeface="Calibri"/>
              </a:rPr>
              <a:t>n = 4  |  MSE = 1.25</a:t>
            </a:r>
          </a:p>
        </p:txBody>
      </p:sp>
      <p:sp>
        <p:nvSpPr>
          <p:cNvPr id="5" name="Node C1=B"/>
          <p:cNvSpPr/>
          <p:nvPr/>
        </p:nvSpPr>
        <p:spPr>
          <a:xfrm>
            <a:off x="7635240" y="2880360"/>
            <a:ext cx="3108960" cy="960120"/>
          </a:xfrm>
          <a:prstGeom prst="roundRect">
            <a:avLst>
              <a:gd name="adj" fmla="val 12000"/>
            </a:avLst>
          </a:prstGeom>
          <a:solidFill>
            <a:srgbClr val="DCE6F2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1F3864"/>
                </a:solidFill>
                <a:latin typeface="Calibri"/>
              </a:rPr>
              <a:t>cont1 ≤ 7.25 ?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1F3864"/>
                </a:solidFill>
                <a:latin typeface="Calibri"/>
              </a:rPr>
              <a:t>n = 4  |  MSE = 1.25</a:t>
            </a:r>
          </a:p>
        </p:txBody>
      </p:sp>
      <p:sp>
        <p:nvSpPr>
          <p:cNvPr id="6" name="Leaf ŷ = 10.5"/>
          <p:cNvSpPr/>
          <p:nvPr/>
        </p:nvSpPr>
        <p:spPr>
          <a:xfrm>
            <a:off x="685800" y="4663440"/>
            <a:ext cx="2194560" cy="11887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375623"/>
                </a:solidFill>
                <a:latin typeface="Calibri"/>
              </a:rPr>
              <a:t>ŷ = 10.5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375623"/>
                </a:solidFill>
                <a:latin typeface="Calibri"/>
              </a:rPr>
              <a:t>IDs 1, 3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375623"/>
                </a:solidFill>
                <a:latin typeface="Calibri"/>
              </a:rPr>
              <a:t>n = 2  |  MSE = 0.25</a:t>
            </a:r>
          </a:p>
        </p:txBody>
      </p:sp>
      <p:sp>
        <p:nvSpPr>
          <p:cNvPr id="7" name="Leaf ŷ = 12.5"/>
          <p:cNvSpPr/>
          <p:nvPr/>
        </p:nvSpPr>
        <p:spPr>
          <a:xfrm>
            <a:off x="3063239" y="4663440"/>
            <a:ext cx="2194560" cy="11887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375623"/>
                </a:solidFill>
                <a:latin typeface="Calibri"/>
              </a:rPr>
              <a:t>ŷ = 12.5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375623"/>
                </a:solidFill>
                <a:latin typeface="Calibri"/>
              </a:rPr>
              <a:t>IDs 2, 7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375623"/>
                </a:solidFill>
                <a:latin typeface="Calibri"/>
              </a:rPr>
              <a:t>n = 2  |  MSE = 0.25</a:t>
            </a:r>
          </a:p>
        </p:txBody>
      </p:sp>
      <p:sp>
        <p:nvSpPr>
          <p:cNvPr id="8" name="Leaf ŷ = 19.5"/>
          <p:cNvSpPr/>
          <p:nvPr/>
        </p:nvSpPr>
        <p:spPr>
          <a:xfrm>
            <a:off x="6903720" y="4663440"/>
            <a:ext cx="2194560" cy="11887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375623"/>
                </a:solidFill>
                <a:latin typeface="Calibri"/>
              </a:rPr>
              <a:t>ŷ = 19.5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375623"/>
                </a:solidFill>
                <a:latin typeface="Calibri"/>
              </a:rPr>
              <a:t>IDs 4, 6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375623"/>
                </a:solidFill>
                <a:latin typeface="Calibri"/>
              </a:rPr>
              <a:t>n = 2  |  MSE = 0.25</a:t>
            </a:r>
          </a:p>
        </p:txBody>
      </p:sp>
      <p:sp>
        <p:nvSpPr>
          <p:cNvPr id="9" name="Leaf ŷ = 21.5"/>
          <p:cNvSpPr/>
          <p:nvPr/>
        </p:nvSpPr>
        <p:spPr>
          <a:xfrm>
            <a:off x="9281160" y="4663440"/>
            <a:ext cx="2194560" cy="11887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375623"/>
                </a:solidFill>
                <a:latin typeface="Calibri"/>
              </a:rPr>
              <a:t>ŷ = 21.5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375623"/>
                </a:solidFill>
                <a:latin typeface="Calibri"/>
              </a:rPr>
              <a:t>IDs 5, 8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375623"/>
                </a:solidFill>
                <a:latin typeface="Calibri"/>
              </a:rPr>
              <a:t>n = 2  |  MSE = 0.25</a:t>
            </a:r>
          </a:p>
        </p:txBody>
      </p:sp>
      <p:cxnSp>
        <p:nvCxnSpPr>
          <p:cNvPr id="10" name="Branch Yes"/>
          <p:cNvCxnSpPr/>
          <p:nvPr/>
        </p:nvCxnSpPr>
        <p:spPr>
          <a:xfrm flipH="1">
            <a:off x="3337560" y="2148840"/>
            <a:ext cx="2011680" cy="73152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abel Yes"/>
          <p:cNvSpPr txBox="1"/>
          <p:nvPr/>
        </p:nvSpPr>
        <p:spPr>
          <a:xfrm>
            <a:off x="3685032" y="2368296"/>
            <a:ext cx="54864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95959"/>
                </a:solidFill>
                <a:latin typeface="Calibri"/>
              </a:rPr>
              <a:t>Yes</a:t>
            </a:r>
          </a:p>
        </p:txBody>
      </p:sp>
      <p:cxnSp>
        <p:nvCxnSpPr>
          <p:cNvPr id="12" name="Branch No"/>
          <p:cNvCxnSpPr/>
          <p:nvPr/>
        </p:nvCxnSpPr>
        <p:spPr>
          <a:xfrm>
            <a:off x="6812280" y="2148840"/>
            <a:ext cx="2011680" cy="73152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Label No"/>
          <p:cNvSpPr txBox="1"/>
          <p:nvPr/>
        </p:nvSpPr>
        <p:spPr>
          <a:xfrm>
            <a:off x="7927848" y="2368296"/>
            <a:ext cx="54864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95959"/>
                </a:solidFill>
                <a:latin typeface="Calibri"/>
              </a:rPr>
              <a:t>No</a:t>
            </a:r>
          </a:p>
        </p:txBody>
      </p:sp>
      <p:cxnSp>
        <p:nvCxnSpPr>
          <p:cNvPr id="14" name="Branch Yes"/>
          <p:cNvCxnSpPr/>
          <p:nvPr/>
        </p:nvCxnSpPr>
        <p:spPr>
          <a:xfrm flipH="1">
            <a:off x="1783080" y="3840480"/>
            <a:ext cx="822960" cy="82296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abel Yes"/>
          <p:cNvSpPr txBox="1"/>
          <p:nvPr/>
        </p:nvSpPr>
        <p:spPr>
          <a:xfrm>
            <a:off x="1536192" y="4105656"/>
            <a:ext cx="54864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95959"/>
                </a:solidFill>
                <a:latin typeface="Calibri"/>
              </a:rPr>
              <a:t>Yes</a:t>
            </a:r>
          </a:p>
        </p:txBody>
      </p:sp>
      <p:cxnSp>
        <p:nvCxnSpPr>
          <p:cNvPr id="16" name="Branch No"/>
          <p:cNvCxnSpPr/>
          <p:nvPr/>
        </p:nvCxnSpPr>
        <p:spPr>
          <a:xfrm>
            <a:off x="3337560" y="3840480"/>
            <a:ext cx="822960" cy="82296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abel No"/>
          <p:cNvSpPr txBox="1"/>
          <p:nvPr/>
        </p:nvSpPr>
        <p:spPr>
          <a:xfrm>
            <a:off x="3858768" y="4105656"/>
            <a:ext cx="54864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95959"/>
                </a:solidFill>
                <a:latin typeface="Calibri"/>
              </a:rPr>
              <a:t>No</a:t>
            </a:r>
          </a:p>
        </p:txBody>
      </p:sp>
      <p:cxnSp>
        <p:nvCxnSpPr>
          <p:cNvPr id="18" name="Branch Yes"/>
          <p:cNvCxnSpPr/>
          <p:nvPr/>
        </p:nvCxnSpPr>
        <p:spPr>
          <a:xfrm flipH="1">
            <a:off x="8001000" y="3840480"/>
            <a:ext cx="822960" cy="82296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abel Yes"/>
          <p:cNvSpPr txBox="1"/>
          <p:nvPr/>
        </p:nvSpPr>
        <p:spPr>
          <a:xfrm>
            <a:off x="7754111" y="4105656"/>
            <a:ext cx="54864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95959"/>
                </a:solidFill>
                <a:latin typeface="Calibri"/>
              </a:rPr>
              <a:t>Yes</a:t>
            </a:r>
          </a:p>
        </p:txBody>
      </p:sp>
      <p:cxnSp>
        <p:nvCxnSpPr>
          <p:cNvPr id="20" name="Branch No"/>
          <p:cNvCxnSpPr/>
          <p:nvPr/>
        </p:nvCxnSpPr>
        <p:spPr>
          <a:xfrm>
            <a:off x="9555480" y="3840480"/>
            <a:ext cx="822960" cy="822960"/>
          </a:xfrm>
          <a:prstGeom prst="line">
            <a:avLst/>
          </a:prstGeom>
          <a:ln w="222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abel No"/>
          <p:cNvSpPr txBox="1"/>
          <p:nvPr/>
        </p:nvSpPr>
        <p:spPr>
          <a:xfrm>
            <a:off x="10076688" y="4105656"/>
            <a:ext cx="54864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95959"/>
                </a:solidFill>
                <a:latin typeface="Calibri"/>
              </a:rPr>
              <a:t>No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1F1F"/>
                </a:solidFill>
                <a:latin typeface="Calibri"/>
              </a:rPr>
              <a:t>FINAL MODEL — Predictions and Fit</a:t>
            </a:r>
          </a:p>
        </p:txBody>
      </p:sp>
      <p:graphicFrame>
        <p:nvGraphicFramePr>
          <p:cNvPr id="3" name="Predictions"/>
          <p:cNvGraphicFramePr>
            <a:graphicFrameLocks noGrp="1"/>
          </p:cNvGraphicFramePr>
          <p:nvPr/>
        </p:nvGraphicFramePr>
        <p:xfrm>
          <a:off x="502920" y="1188720"/>
          <a:ext cx="7315200" cy="45262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31520"/>
                <a:gridCol w="1188720"/>
                <a:gridCol w="3108960"/>
                <a:gridCol w="100584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F1F1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F1F1F"/>
                          </a:solidFill>
                          <a:latin typeface="Calibri"/>
                        </a:rPr>
                        <a:t>Actual y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F1F1F"/>
                          </a:solidFill>
                          <a:latin typeface="Calibri"/>
                        </a:rPr>
                        <a:t>Path to leaf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F1F1F"/>
                          </a:solidFill>
                          <a:latin typeface="Calibri"/>
                        </a:rPr>
                        <a:t>ŷ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F1F1F"/>
                          </a:solidFill>
                          <a:latin typeface="Calibri"/>
                        </a:rPr>
                        <a:t>(y − ŷ)²</a:t>
                      </a:r>
                    </a:p>
                  </a:txBody>
                  <a:tcPr anchor="ctr" marL="91440" marR="91440" marT="27432" marB="27432">
                    <a:lnB w="19050" cap="flat" cmpd="sng">
                      <a:solidFill>
                        <a:srgbClr val="404040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C1 = A, cont1 ≤ 2.75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10.5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C1 = A, cont1 ≤ 2.75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10.5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C1 = A, cont1 &gt; 2.75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12.5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C1 = A, cont1 &gt; 2.75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12.5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C1 = B, cont1 ≤ 7.25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19.5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C1 = B, cont1 ≤ 7.25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19.5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C1 = B, cont1 &gt; 7.25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21.5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C1 = B, cont1 &gt; 7.25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21.5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F1F1F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anchor="ctr" marL="91440" marR="91440" marT="27432" marB="27432">
                    <a:lnB w="9525" cap="flat" cmpd="sng">
                      <a:solidFill>
                        <a:srgbClr val="BFBFB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8138160" y="118872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0" y="1280160"/>
            <a:ext cx="3200400" cy="11887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375623"/>
                </a:solidFill>
                <a:latin typeface="Calibri"/>
              </a:rPr>
              <a:t>Training MSE = 0.25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Σ(y − ŷ)² = 8 × 0.25 = 2.0, then 2.0 ÷ 8</a:t>
            </a:r>
          </a:p>
        </p:txBody>
      </p:sp>
      <p:sp>
        <p:nvSpPr>
          <p:cNvPr id="6" name="Card"/>
          <p:cNvSpPr/>
          <p:nvPr/>
        </p:nvSpPr>
        <p:spPr>
          <a:xfrm>
            <a:off x="8138160" y="274320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2834640"/>
            <a:ext cx="3200400" cy="11887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375623"/>
                </a:solidFill>
                <a:latin typeface="Calibri"/>
              </a:rPr>
              <a:t>R² = 1 − 2 / 172 = 0.988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172 = total sum of squares at the root (8 × 21.5)</a:t>
            </a:r>
          </a:p>
        </p:txBody>
      </p:sp>
      <p:sp>
        <p:nvSpPr>
          <p:cNvPr id="8" name="Card"/>
          <p:cNvSpPr/>
          <p:nvPr/>
        </p:nvSpPr>
        <p:spPr>
          <a:xfrm>
            <a:off x="8138160" y="429768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4389120"/>
            <a:ext cx="3200400" cy="11887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375623"/>
                </a:solidFill>
                <a:latin typeface="Calibri"/>
              </a:rPr>
              <a:t>MSE: 21.5 → 1.25 → 0.25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1F1F"/>
                </a:solidFill>
                <a:latin typeface="Calibri"/>
              </a:rPr>
              <a:t>root → after level 1 → after level 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1F1F"/>
                </a:solidFill>
                <a:latin typeface="Calibri"/>
              </a:rPr>
              <a:t>STOPPING RULE AND TAKEAWAYS</a:t>
            </a:r>
          </a:p>
        </p:txBody>
      </p:sp>
      <p:sp>
        <p:nvSpPr>
          <p:cNvPr id="3" name="Number 1"/>
          <p:cNvSpPr/>
          <p:nvPr/>
        </p:nvSpPr>
        <p:spPr>
          <a:xfrm>
            <a:off x="640080" y="1325880"/>
            <a:ext cx="685800" cy="685800"/>
          </a:xfrm>
          <a:prstGeom prst="ellipse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F3864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234440"/>
            <a:ext cx="9966960" cy="10972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1F1F"/>
                </a:solidFill>
                <a:latin typeface="Calibri"/>
              </a:rPr>
              <a:t>Stopping rule used: max depth = 2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F1F1F"/>
                </a:solidFill>
                <a:latin typeface="Calibri"/>
              </a:rPr>
              <a:t>The tree has 4 leaves, and each leaf predicts the mean of its training targets.</a:t>
            </a:r>
          </a:p>
        </p:txBody>
      </p:sp>
      <p:sp>
        <p:nvSpPr>
          <p:cNvPr id="5" name="Number 2"/>
          <p:cNvSpPr/>
          <p:nvPr/>
        </p:nvSpPr>
        <p:spPr>
          <a:xfrm>
            <a:off x="640080" y="2606040"/>
            <a:ext cx="685800" cy="685800"/>
          </a:xfrm>
          <a:prstGeom prst="ellipse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F3864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514600"/>
            <a:ext cx="9966960" cy="10972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1F1F"/>
                </a:solidFill>
                <a:latin typeface="Calibri"/>
              </a:rPr>
              <a:t>Why stop here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F1F1F"/>
                </a:solidFill>
                <a:latin typeface="Calibri"/>
              </a:rPr>
              <a:t>Each leaf has 2 rows. One more split would give pure leaves (MSE = 0), but that only memorises the training data (overfitting).</a:t>
            </a:r>
          </a:p>
        </p:txBody>
      </p:sp>
      <p:sp>
        <p:nvSpPr>
          <p:cNvPr id="7" name="Number 3"/>
          <p:cNvSpPr/>
          <p:nvPr/>
        </p:nvSpPr>
        <p:spPr>
          <a:xfrm>
            <a:off x="640080" y="3886200"/>
            <a:ext cx="685800" cy="685800"/>
          </a:xfrm>
          <a:prstGeom prst="ellipse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F3864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794760"/>
            <a:ext cx="9966960" cy="10972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1F1F"/>
                </a:solidFill>
                <a:latin typeface="Calibri"/>
              </a:rPr>
              <a:t>Usual controls in practice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F1F1F"/>
                </a:solidFill>
                <a:latin typeface="Calibri"/>
              </a:rPr>
              <a:t>max_depth, min_samples_split, min_samples_leaf and a minimum impurity decrease.</a:t>
            </a:r>
          </a:p>
        </p:txBody>
      </p:sp>
      <p:sp>
        <p:nvSpPr>
          <p:cNvPr id="9" name="Number 4"/>
          <p:cNvSpPr/>
          <p:nvPr/>
        </p:nvSpPr>
        <p:spPr>
          <a:xfrm>
            <a:off x="640080" y="5166359"/>
            <a:ext cx="685800" cy="685800"/>
          </a:xfrm>
          <a:prstGeom prst="ellipse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F3864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5074919"/>
            <a:ext cx="9966960" cy="10972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1F1F"/>
                </a:solidFill>
                <a:latin typeface="Calibri"/>
              </a:rPr>
              <a:t>Example prediction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F1F1F"/>
                </a:solidFill>
                <a:latin typeface="Calibri"/>
              </a:rPr>
              <a:t>New row with C1 = B, cont1 = 7.2: C1 = A? No, then cont1 ≤ 7.25? Yes, so ŷ = 19.5.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3056</TotalTime>
  <Words>7</Words>
  <Application>Microsoft Office PowerPoint</Application>
  <PresentationFormat>Widescreen</PresentationFormat>
  <Paragraphs>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Decision Tree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 Regression</dc:title>
  <dc:creator>Dr.Sahib</dc:creator>
  <cp:lastModifiedBy>Dr.Sahib</cp:lastModifiedBy>
  <cp:revision>17</cp:revision>
  <dcterms:created xsi:type="dcterms:W3CDTF">2025-11-25T07:57:25Z</dcterms:created>
  <dcterms:modified xsi:type="dcterms:W3CDTF">2025-11-27T10:53:44Z</dcterms:modified>
</cp:coreProperties>
</file>