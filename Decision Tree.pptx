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9" r:id="rId11"/>
    <p:sldId id="270" r:id="rId12"/>
    <p:sldId id="271" r:id="rId13"/>
    <p:sldId id="272" r:id="rId14"/>
    <p:sldId id="273" r:id="rId15"/>
    <p:sldId id="266" r:id="rId16"/>
    <p:sldId id="274" r:id="rId17"/>
    <p:sldId id="267" r:id="rId1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4995" autoAdjust="0"/>
    <p:restoredTop sz="94660"/>
  </p:normalViewPr>
  <p:slideViewPr>
    <p:cSldViewPr snapToGrid="0">
      <p:cViewPr varScale="1">
        <p:scale>
          <a:sx n="84" d="100"/>
          <a:sy n="84" d="100"/>
        </p:scale>
        <p:origin x="581" y="8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176D4A-F7E3-4628-907D-FD03A6819248}" type="datetimeFigureOut">
              <a:rPr lang="en-US" smtClean="0"/>
              <a:t>11/13/2025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92EC22-F683-468E-B9A7-8754589A6BB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9619397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176D4A-F7E3-4628-907D-FD03A6819248}" type="datetimeFigureOut">
              <a:rPr lang="en-US" smtClean="0"/>
              <a:t>11/13/2025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92EC22-F683-468E-B9A7-8754589A6BB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1599804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176D4A-F7E3-4628-907D-FD03A6819248}" type="datetimeFigureOut">
              <a:rPr lang="en-US" smtClean="0"/>
              <a:t>11/13/2025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92EC22-F683-468E-B9A7-8754589A6BB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249364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176D4A-F7E3-4628-907D-FD03A6819248}" type="datetimeFigureOut">
              <a:rPr lang="en-US" smtClean="0"/>
              <a:t>11/13/2025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92EC22-F683-468E-B9A7-8754589A6BB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8307010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176D4A-F7E3-4628-907D-FD03A6819248}" type="datetimeFigureOut">
              <a:rPr lang="en-US" smtClean="0"/>
              <a:t>11/13/2025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92EC22-F683-468E-B9A7-8754589A6BB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3610752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176D4A-F7E3-4628-907D-FD03A6819248}" type="datetimeFigureOut">
              <a:rPr lang="en-US" smtClean="0"/>
              <a:t>11/13/2025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92EC22-F683-468E-B9A7-8754589A6BB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6138951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176D4A-F7E3-4628-907D-FD03A6819248}" type="datetimeFigureOut">
              <a:rPr lang="en-US" smtClean="0"/>
              <a:t>11/13/2025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92EC22-F683-468E-B9A7-8754589A6BB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13258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176D4A-F7E3-4628-907D-FD03A6819248}" type="datetimeFigureOut">
              <a:rPr lang="en-US" smtClean="0"/>
              <a:t>11/13/2025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92EC22-F683-468E-B9A7-8754589A6BB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694125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176D4A-F7E3-4628-907D-FD03A6819248}" type="datetimeFigureOut">
              <a:rPr lang="en-US" smtClean="0"/>
              <a:t>11/13/2025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92EC22-F683-468E-B9A7-8754589A6BB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8185645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176D4A-F7E3-4628-907D-FD03A6819248}" type="datetimeFigureOut">
              <a:rPr lang="en-US" smtClean="0"/>
              <a:t>11/13/2025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92EC22-F683-468E-B9A7-8754589A6BB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4542137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176D4A-F7E3-4628-907D-FD03A6819248}" type="datetimeFigureOut">
              <a:rPr lang="en-US" smtClean="0"/>
              <a:t>11/13/2025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92EC22-F683-468E-B9A7-8754589A6BB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4622658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F176D4A-F7E3-4628-907D-FD03A6819248}" type="datetimeFigureOut">
              <a:rPr lang="en-US" smtClean="0"/>
              <a:t>11/13/2025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792EC22-F683-468E-B9A7-8754589A6BB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2591463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b="1" dirty="0" smtClean="0"/>
              <a:t>Decision Tree </a:t>
            </a:r>
            <a:endParaRPr lang="en-US" b="1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 smtClean="0"/>
              <a:t>Dr. Muhammad </a:t>
            </a:r>
            <a:r>
              <a:rPr lang="en-US" dirty="0" err="1" smtClean="0"/>
              <a:t>Safyan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6533759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70269073"/>
              </p:ext>
            </p:extLst>
          </p:nvPr>
        </p:nvGraphicFramePr>
        <p:xfrm>
          <a:off x="182873" y="6"/>
          <a:ext cx="11932926" cy="6858000"/>
        </p:xfrm>
        <a:graphic>
          <a:graphicData uri="http://schemas.openxmlformats.org/drawingml/2006/table">
            <a:tbl>
              <a:tblPr/>
              <a:tblGrid>
                <a:gridCol w="1988821"/>
                <a:gridCol w="1988821"/>
                <a:gridCol w="1988821"/>
                <a:gridCol w="1988821"/>
                <a:gridCol w="1988821"/>
                <a:gridCol w="1988821"/>
              </a:tblGrid>
              <a:tr h="457200">
                <a:tc>
                  <a:txBody>
                    <a:bodyPr/>
                    <a:lstStyle/>
                    <a:p>
                      <a:r>
                        <a:rPr lang="en-US" sz="1400" b="1" dirty="0"/>
                        <a:t>Day</a:t>
                      </a:r>
                    </a:p>
                  </a:txBody>
                  <a:tcPr marL="72522" marR="72522" marT="36261" marB="3626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 dirty="0"/>
                        <a:t>Weather</a:t>
                      </a:r>
                    </a:p>
                  </a:txBody>
                  <a:tcPr marL="72522" marR="72522" marT="36261" marB="3626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 dirty="0"/>
                        <a:t>Temperature</a:t>
                      </a:r>
                    </a:p>
                  </a:txBody>
                  <a:tcPr marL="72522" marR="72522" marT="36261" marB="3626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 dirty="0"/>
                        <a:t>Humidity</a:t>
                      </a:r>
                    </a:p>
                  </a:txBody>
                  <a:tcPr marL="72522" marR="72522" marT="36261" marB="3626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 dirty="0"/>
                        <a:t>Wind</a:t>
                      </a:r>
                    </a:p>
                  </a:txBody>
                  <a:tcPr marL="72522" marR="72522" marT="36261" marB="3626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 dirty="0"/>
                        <a:t>Play?</a:t>
                      </a:r>
                    </a:p>
                  </a:txBody>
                  <a:tcPr marL="72522" marR="72522" marT="36261" marB="3626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lang="en-US" sz="1400"/>
                        <a:t>D1</a:t>
                      </a:r>
                    </a:p>
                  </a:txBody>
                  <a:tcPr marL="72522" marR="72522" marT="36261" marB="3626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400"/>
                        <a:t>Sunny</a:t>
                      </a:r>
                    </a:p>
                  </a:txBody>
                  <a:tcPr marL="72522" marR="72522" marT="36261" marB="3626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400"/>
                        <a:t>Hot</a:t>
                      </a:r>
                    </a:p>
                  </a:txBody>
                  <a:tcPr marL="72522" marR="72522" marT="36261" marB="3626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400"/>
                        <a:t>High</a:t>
                      </a:r>
                    </a:p>
                  </a:txBody>
                  <a:tcPr marL="72522" marR="72522" marT="36261" marB="3626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400"/>
                        <a:t>Weak</a:t>
                      </a:r>
                    </a:p>
                  </a:txBody>
                  <a:tcPr marL="72522" marR="72522" marT="36261" marB="3626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400"/>
                        <a:t>No</a:t>
                      </a:r>
                    </a:p>
                  </a:txBody>
                  <a:tcPr marL="72522" marR="72522" marT="36261" marB="3626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lang="en-US" sz="1400"/>
                        <a:t>D2</a:t>
                      </a:r>
                    </a:p>
                  </a:txBody>
                  <a:tcPr marL="72522" marR="72522" marT="36261" marB="3626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400"/>
                        <a:t>Sunny</a:t>
                      </a:r>
                    </a:p>
                  </a:txBody>
                  <a:tcPr marL="72522" marR="72522" marT="36261" marB="3626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400"/>
                        <a:t>Hot</a:t>
                      </a:r>
                    </a:p>
                  </a:txBody>
                  <a:tcPr marL="72522" marR="72522" marT="36261" marB="3626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400"/>
                        <a:t>High</a:t>
                      </a:r>
                    </a:p>
                  </a:txBody>
                  <a:tcPr marL="72522" marR="72522" marT="36261" marB="3626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400"/>
                        <a:t>Strong</a:t>
                      </a:r>
                    </a:p>
                  </a:txBody>
                  <a:tcPr marL="72522" marR="72522" marT="36261" marB="3626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400"/>
                        <a:t>No</a:t>
                      </a:r>
                    </a:p>
                  </a:txBody>
                  <a:tcPr marL="72522" marR="72522" marT="36261" marB="3626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lang="en-US" sz="1400"/>
                        <a:t>D3</a:t>
                      </a:r>
                    </a:p>
                  </a:txBody>
                  <a:tcPr marL="72522" marR="72522" marT="36261" marB="3626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400"/>
                        <a:t>Overcast</a:t>
                      </a:r>
                    </a:p>
                  </a:txBody>
                  <a:tcPr marL="72522" marR="72522" marT="36261" marB="3626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400"/>
                        <a:t>Hot</a:t>
                      </a:r>
                    </a:p>
                  </a:txBody>
                  <a:tcPr marL="72522" marR="72522" marT="36261" marB="3626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400"/>
                        <a:t>High</a:t>
                      </a:r>
                    </a:p>
                  </a:txBody>
                  <a:tcPr marL="72522" marR="72522" marT="36261" marB="3626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400"/>
                        <a:t>Weak</a:t>
                      </a:r>
                    </a:p>
                  </a:txBody>
                  <a:tcPr marL="72522" marR="72522" marT="36261" marB="3626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400"/>
                        <a:t>Yes</a:t>
                      </a:r>
                    </a:p>
                  </a:txBody>
                  <a:tcPr marL="72522" marR="72522" marT="36261" marB="3626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lang="en-US" sz="1400"/>
                        <a:t>D4</a:t>
                      </a:r>
                    </a:p>
                  </a:txBody>
                  <a:tcPr marL="72522" marR="72522" marT="36261" marB="3626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400"/>
                        <a:t>Rain</a:t>
                      </a:r>
                    </a:p>
                  </a:txBody>
                  <a:tcPr marL="72522" marR="72522" marT="36261" marB="3626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400"/>
                        <a:t>Mild</a:t>
                      </a:r>
                    </a:p>
                  </a:txBody>
                  <a:tcPr marL="72522" marR="72522" marT="36261" marB="3626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400"/>
                        <a:t>High</a:t>
                      </a:r>
                    </a:p>
                  </a:txBody>
                  <a:tcPr marL="72522" marR="72522" marT="36261" marB="3626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400"/>
                        <a:t>Weak</a:t>
                      </a:r>
                    </a:p>
                  </a:txBody>
                  <a:tcPr marL="72522" marR="72522" marT="36261" marB="3626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400"/>
                        <a:t>Yes</a:t>
                      </a:r>
                    </a:p>
                  </a:txBody>
                  <a:tcPr marL="72522" marR="72522" marT="36261" marB="3626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lang="en-US" sz="1400"/>
                        <a:t>D5</a:t>
                      </a:r>
                    </a:p>
                  </a:txBody>
                  <a:tcPr marL="72522" marR="72522" marT="36261" marB="3626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400"/>
                        <a:t>Rain</a:t>
                      </a:r>
                    </a:p>
                  </a:txBody>
                  <a:tcPr marL="72522" marR="72522" marT="36261" marB="3626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400"/>
                        <a:t>Cool</a:t>
                      </a:r>
                    </a:p>
                  </a:txBody>
                  <a:tcPr marL="72522" marR="72522" marT="36261" marB="3626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400"/>
                        <a:t>Normal</a:t>
                      </a:r>
                    </a:p>
                  </a:txBody>
                  <a:tcPr marL="72522" marR="72522" marT="36261" marB="3626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400"/>
                        <a:t>Weak</a:t>
                      </a:r>
                    </a:p>
                  </a:txBody>
                  <a:tcPr marL="72522" marR="72522" marT="36261" marB="3626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400"/>
                        <a:t>Yes</a:t>
                      </a:r>
                    </a:p>
                  </a:txBody>
                  <a:tcPr marL="72522" marR="72522" marT="36261" marB="3626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lang="en-US" sz="1400"/>
                        <a:t>D6</a:t>
                      </a:r>
                    </a:p>
                  </a:txBody>
                  <a:tcPr marL="72522" marR="72522" marT="36261" marB="3626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400"/>
                        <a:t>Rain</a:t>
                      </a:r>
                    </a:p>
                  </a:txBody>
                  <a:tcPr marL="72522" marR="72522" marT="36261" marB="3626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400"/>
                        <a:t>Cool</a:t>
                      </a:r>
                    </a:p>
                  </a:txBody>
                  <a:tcPr marL="72522" marR="72522" marT="36261" marB="3626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400"/>
                        <a:t>Normal</a:t>
                      </a:r>
                    </a:p>
                  </a:txBody>
                  <a:tcPr marL="72522" marR="72522" marT="36261" marB="3626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400"/>
                        <a:t>Strong</a:t>
                      </a:r>
                    </a:p>
                  </a:txBody>
                  <a:tcPr marL="72522" marR="72522" marT="36261" marB="3626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400"/>
                        <a:t>No</a:t>
                      </a:r>
                    </a:p>
                  </a:txBody>
                  <a:tcPr marL="72522" marR="72522" marT="36261" marB="3626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lang="en-US" sz="1400"/>
                        <a:t>D7</a:t>
                      </a:r>
                    </a:p>
                  </a:txBody>
                  <a:tcPr marL="72522" marR="72522" marT="36261" marB="3626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400"/>
                        <a:t>Overcast</a:t>
                      </a:r>
                    </a:p>
                  </a:txBody>
                  <a:tcPr marL="72522" marR="72522" marT="36261" marB="3626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400"/>
                        <a:t>Cool</a:t>
                      </a:r>
                    </a:p>
                  </a:txBody>
                  <a:tcPr marL="72522" marR="72522" marT="36261" marB="3626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400"/>
                        <a:t>Normal</a:t>
                      </a:r>
                    </a:p>
                  </a:txBody>
                  <a:tcPr marL="72522" marR="72522" marT="36261" marB="3626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400"/>
                        <a:t>Strong</a:t>
                      </a:r>
                    </a:p>
                  </a:txBody>
                  <a:tcPr marL="72522" marR="72522" marT="36261" marB="3626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400"/>
                        <a:t>Yes</a:t>
                      </a:r>
                    </a:p>
                  </a:txBody>
                  <a:tcPr marL="72522" marR="72522" marT="36261" marB="3626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lang="en-US" sz="1400"/>
                        <a:t>D8</a:t>
                      </a:r>
                    </a:p>
                  </a:txBody>
                  <a:tcPr marL="72522" marR="72522" marT="36261" marB="3626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400"/>
                        <a:t>Sunny</a:t>
                      </a:r>
                    </a:p>
                  </a:txBody>
                  <a:tcPr marL="72522" marR="72522" marT="36261" marB="3626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400"/>
                        <a:t>Mild</a:t>
                      </a:r>
                    </a:p>
                  </a:txBody>
                  <a:tcPr marL="72522" marR="72522" marT="36261" marB="3626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400"/>
                        <a:t>High</a:t>
                      </a:r>
                    </a:p>
                  </a:txBody>
                  <a:tcPr marL="72522" marR="72522" marT="36261" marB="3626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400"/>
                        <a:t>Weak</a:t>
                      </a:r>
                    </a:p>
                  </a:txBody>
                  <a:tcPr marL="72522" marR="72522" marT="36261" marB="3626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400"/>
                        <a:t>No</a:t>
                      </a:r>
                    </a:p>
                  </a:txBody>
                  <a:tcPr marL="72522" marR="72522" marT="36261" marB="3626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lang="en-US" sz="1400"/>
                        <a:t>D9</a:t>
                      </a:r>
                    </a:p>
                  </a:txBody>
                  <a:tcPr marL="72522" marR="72522" marT="36261" marB="3626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400"/>
                        <a:t>Sunny</a:t>
                      </a:r>
                    </a:p>
                  </a:txBody>
                  <a:tcPr marL="72522" marR="72522" marT="36261" marB="3626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400"/>
                        <a:t>Cool</a:t>
                      </a:r>
                    </a:p>
                  </a:txBody>
                  <a:tcPr marL="72522" marR="72522" marT="36261" marB="3626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400"/>
                        <a:t>Normal</a:t>
                      </a:r>
                    </a:p>
                  </a:txBody>
                  <a:tcPr marL="72522" marR="72522" marT="36261" marB="3626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400"/>
                        <a:t>Weak</a:t>
                      </a:r>
                    </a:p>
                  </a:txBody>
                  <a:tcPr marL="72522" marR="72522" marT="36261" marB="3626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400"/>
                        <a:t>Yes</a:t>
                      </a:r>
                    </a:p>
                  </a:txBody>
                  <a:tcPr marL="72522" marR="72522" marT="36261" marB="3626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lang="en-US" sz="1400"/>
                        <a:t>D10</a:t>
                      </a:r>
                    </a:p>
                  </a:txBody>
                  <a:tcPr marL="72522" marR="72522" marT="36261" marB="3626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400"/>
                        <a:t>Rain</a:t>
                      </a:r>
                    </a:p>
                  </a:txBody>
                  <a:tcPr marL="72522" marR="72522" marT="36261" marB="3626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400"/>
                        <a:t>Mild</a:t>
                      </a:r>
                    </a:p>
                  </a:txBody>
                  <a:tcPr marL="72522" marR="72522" marT="36261" marB="3626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400"/>
                        <a:t>Normal</a:t>
                      </a:r>
                    </a:p>
                  </a:txBody>
                  <a:tcPr marL="72522" marR="72522" marT="36261" marB="3626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400"/>
                        <a:t>Weak</a:t>
                      </a:r>
                    </a:p>
                  </a:txBody>
                  <a:tcPr marL="72522" marR="72522" marT="36261" marB="3626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400"/>
                        <a:t>Yes</a:t>
                      </a:r>
                    </a:p>
                  </a:txBody>
                  <a:tcPr marL="72522" marR="72522" marT="36261" marB="3626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lang="en-US" sz="1400"/>
                        <a:t>D11</a:t>
                      </a:r>
                    </a:p>
                  </a:txBody>
                  <a:tcPr marL="72522" marR="72522" marT="36261" marB="3626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400"/>
                        <a:t>Sunny</a:t>
                      </a:r>
                    </a:p>
                  </a:txBody>
                  <a:tcPr marL="72522" marR="72522" marT="36261" marB="3626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400"/>
                        <a:t>Mild</a:t>
                      </a:r>
                    </a:p>
                  </a:txBody>
                  <a:tcPr marL="72522" marR="72522" marT="36261" marB="3626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400"/>
                        <a:t>Normal</a:t>
                      </a:r>
                    </a:p>
                  </a:txBody>
                  <a:tcPr marL="72522" marR="72522" marT="36261" marB="3626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400"/>
                        <a:t>Strong</a:t>
                      </a:r>
                    </a:p>
                  </a:txBody>
                  <a:tcPr marL="72522" marR="72522" marT="36261" marB="3626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400"/>
                        <a:t>Yes</a:t>
                      </a:r>
                    </a:p>
                  </a:txBody>
                  <a:tcPr marL="72522" marR="72522" marT="36261" marB="3626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lang="en-US" sz="1400"/>
                        <a:t>D12</a:t>
                      </a:r>
                    </a:p>
                  </a:txBody>
                  <a:tcPr marL="72522" marR="72522" marT="36261" marB="3626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400"/>
                        <a:t>Overcast</a:t>
                      </a:r>
                    </a:p>
                  </a:txBody>
                  <a:tcPr marL="72522" marR="72522" marT="36261" marB="3626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400"/>
                        <a:t>Mild</a:t>
                      </a:r>
                    </a:p>
                  </a:txBody>
                  <a:tcPr marL="72522" marR="72522" marT="36261" marB="3626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400"/>
                        <a:t>High</a:t>
                      </a:r>
                    </a:p>
                  </a:txBody>
                  <a:tcPr marL="72522" marR="72522" marT="36261" marB="3626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400"/>
                        <a:t>Strong</a:t>
                      </a:r>
                    </a:p>
                  </a:txBody>
                  <a:tcPr marL="72522" marR="72522" marT="36261" marB="3626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400"/>
                        <a:t>Yes</a:t>
                      </a:r>
                    </a:p>
                  </a:txBody>
                  <a:tcPr marL="72522" marR="72522" marT="36261" marB="3626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lang="en-US" sz="1400"/>
                        <a:t>D13</a:t>
                      </a:r>
                    </a:p>
                  </a:txBody>
                  <a:tcPr marL="72522" marR="72522" marT="36261" marB="3626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400"/>
                        <a:t>Overcast</a:t>
                      </a:r>
                    </a:p>
                  </a:txBody>
                  <a:tcPr marL="72522" marR="72522" marT="36261" marB="3626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400"/>
                        <a:t>Hot</a:t>
                      </a:r>
                    </a:p>
                  </a:txBody>
                  <a:tcPr marL="72522" marR="72522" marT="36261" marB="3626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400"/>
                        <a:t>Normal</a:t>
                      </a:r>
                    </a:p>
                  </a:txBody>
                  <a:tcPr marL="72522" marR="72522" marT="36261" marB="3626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400"/>
                        <a:t>Weak</a:t>
                      </a:r>
                    </a:p>
                  </a:txBody>
                  <a:tcPr marL="72522" marR="72522" marT="36261" marB="3626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400"/>
                        <a:t>Yes</a:t>
                      </a:r>
                    </a:p>
                  </a:txBody>
                  <a:tcPr marL="72522" marR="72522" marT="36261" marB="3626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lang="en-US" sz="1400"/>
                        <a:t>D14</a:t>
                      </a:r>
                    </a:p>
                  </a:txBody>
                  <a:tcPr marL="72522" marR="72522" marT="36261" marB="3626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400"/>
                        <a:t>Rain</a:t>
                      </a:r>
                    </a:p>
                  </a:txBody>
                  <a:tcPr marL="72522" marR="72522" marT="36261" marB="3626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400"/>
                        <a:t>Mild</a:t>
                      </a:r>
                    </a:p>
                  </a:txBody>
                  <a:tcPr marL="72522" marR="72522" marT="36261" marB="3626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400"/>
                        <a:t>High</a:t>
                      </a:r>
                    </a:p>
                  </a:txBody>
                  <a:tcPr marL="72522" marR="72522" marT="36261" marB="3626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400"/>
                        <a:t>Strong</a:t>
                      </a:r>
                    </a:p>
                  </a:txBody>
                  <a:tcPr marL="72522" marR="72522" marT="36261" marB="3626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No</a:t>
                      </a:r>
                    </a:p>
                  </a:txBody>
                  <a:tcPr marL="72522" marR="72522" marT="36261" marB="3626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72551730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Step 0 — Root Node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5393" y="1690687"/>
            <a:ext cx="11113519" cy="45641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4578020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832739"/>
          </a:xfrm>
        </p:spPr>
        <p:txBody>
          <a:bodyPr/>
          <a:lstStyle/>
          <a:p>
            <a:r>
              <a:rPr lang="en-US" b="1" dirty="0" smtClean="0"/>
              <a:t>Step 1 — Information Gain for Each Attribute</a:t>
            </a:r>
            <a:endParaRPr lang="en-US" b="1" dirty="0"/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3842" y="1404464"/>
            <a:ext cx="6182588" cy="1324160"/>
          </a:xfrm>
          <a:prstGeom prst="rect">
            <a:avLst/>
          </a:prstGeom>
        </p:spPr>
      </p:pic>
      <p:pic>
        <p:nvPicPr>
          <p:cNvPr id="6" name="Picture 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1508" y="2737768"/>
            <a:ext cx="7983064" cy="38391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8628887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Step 1 — Information Gain for Each Attribute</a:t>
            </a:r>
            <a:endParaRPr lang="en-US" dirty="0"/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2402880"/>
            <a:ext cx="7430537" cy="39724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2077082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Step 1 — Information Gain for Each Attribute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8357" y="1935039"/>
            <a:ext cx="7497221" cy="35914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4882524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 smtClean="0"/>
              <a:t>Step 1 — Information Gain for Each Attribute</a:t>
            </a:r>
            <a:endParaRPr lang="en-US" b="1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1690688"/>
            <a:ext cx="7249537" cy="32198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7644950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 smtClean="0"/>
              <a:t>Step 1 — Information Gain for Each Attribute</a:t>
            </a:r>
            <a:endParaRPr lang="en-US" dirty="0"/>
          </a:p>
        </p:txBody>
      </p:sp>
      <p:pic>
        <p:nvPicPr>
          <p:cNvPr id="4" name="Content Placeholder 3"/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690072" y="2405634"/>
            <a:ext cx="8811855" cy="31913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8425503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Step 2 — Expand Weather Branches</a:t>
            </a:r>
            <a:endParaRPr lang="en-US" dirty="0"/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4997" y="1760905"/>
            <a:ext cx="2753109" cy="1105054"/>
          </a:xfrm>
          <a:prstGeom prst="rect">
            <a:avLst/>
          </a:prstGeom>
        </p:spPr>
      </p:pic>
      <p:pic>
        <p:nvPicPr>
          <p:cNvPr id="5" name="Picture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34561" y="3180869"/>
            <a:ext cx="6449325" cy="1428949"/>
          </a:xfrm>
          <a:prstGeom prst="rect">
            <a:avLst/>
          </a:prstGeom>
        </p:spPr>
      </p:pic>
      <p:pic>
        <p:nvPicPr>
          <p:cNvPr id="6" name="Picture 5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67849" y="4700478"/>
            <a:ext cx="6782747" cy="1571844"/>
          </a:xfrm>
          <a:prstGeom prst="rect">
            <a:avLst/>
          </a:prstGeom>
        </p:spPr>
      </p:pic>
      <p:pic>
        <p:nvPicPr>
          <p:cNvPr id="7" name="Picture 6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155257" y="1293732"/>
            <a:ext cx="2476846" cy="15813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2562861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 smtClean="0"/>
              <a:t>Temperature</a:t>
            </a:r>
            <a:r>
              <a:rPr lang="en-US" dirty="0" smtClean="0"/>
              <a:t> (within Sunny)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8436" y="1629575"/>
            <a:ext cx="8487960" cy="49155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83384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Attribute: </a:t>
            </a:r>
            <a:r>
              <a:rPr lang="en-US" b="1" dirty="0" smtClean="0"/>
              <a:t>Humidity</a:t>
            </a:r>
            <a:r>
              <a:rPr lang="en-US" dirty="0" smtClean="0"/>
              <a:t> (within Sunny)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4975" y="2001516"/>
            <a:ext cx="7011378" cy="36962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406577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98704" y="0"/>
            <a:ext cx="10515600" cy="677291"/>
          </a:xfrm>
        </p:spPr>
        <p:txBody>
          <a:bodyPr>
            <a:normAutofit fontScale="90000"/>
          </a:bodyPr>
          <a:lstStyle/>
          <a:p>
            <a:r>
              <a:rPr lang="en-US" dirty="0" smtClean="0"/>
              <a:t>Attribute: </a:t>
            </a:r>
            <a:r>
              <a:rPr lang="en-US" b="1" dirty="0" smtClean="0"/>
              <a:t>Wind</a:t>
            </a:r>
            <a:r>
              <a:rPr lang="en-US" dirty="0" smtClean="0"/>
              <a:t> (within Sunny)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9872" y="609110"/>
            <a:ext cx="7674864" cy="62397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6344236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40715"/>
          </a:xfrm>
        </p:spPr>
        <p:txBody>
          <a:bodyPr>
            <a:normAutofit fontScale="90000"/>
          </a:bodyPr>
          <a:lstStyle/>
          <a:p>
            <a:r>
              <a:rPr lang="en-US" dirty="0" smtClean="0"/>
              <a:t>Weather = Rain</a:t>
            </a:r>
            <a:endParaRPr lang="en-US" dirty="0"/>
          </a:p>
        </p:txBody>
      </p:sp>
      <p:pic>
        <p:nvPicPr>
          <p:cNvPr id="5" name="Content Placeholder 4"/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538361" y="1271765"/>
            <a:ext cx="8450885" cy="5170488"/>
          </a:xfrm>
          <a:prstGeom prst="rect">
            <a:avLst/>
          </a:prstGeom>
        </p:spPr>
      </p:pic>
      <p:pic>
        <p:nvPicPr>
          <p:cNvPr id="4" name="Picture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89407" y="0"/>
            <a:ext cx="3591426" cy="25435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8888097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8392" y="109093"/>
            <a:ext cx="10515600" cy="649859"/>
          </a:xfrm>
        </p:spPr>
        <p:txBody>
          <a:bodyPr>
            <a:normAutofit fontScale="90000"/>
          </a:bodyPr>
          <a:lstStyle/>
          <a:p>
            <a:r>
              <a:rPr lang="en-US" dirty="0" smtClean="0"/>
              <a:t>Attribute: </a:t>
            </a:r>
            <a:r>
              <a:rPr lang="en-US" b="1" dirty="0" smtClean="0"/>
              <a:t>Temperature</a:t>
            </a:r>
            <a:r>
              <a:rPr lang="en-US" dirty="0" smtClean="0"/>
              <a:t> (within Rain)</a:t>
            </a:r>
            <a:endParaRPr lang="en-US" dirty="0"/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8568" y="655516"/>
            <a:ext cx="7440063" cy="5041196"/>
          </a:xfrm>
          <a:prstGeom prst="rect">
            <a:avLst/>
          </a:prstGeom>
        </p:spPr>
      </p:pic>
      <p:pic>
        <p:nvPicPr>
          <p:cNvPr id="5" name="Picture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0583" y="5752879"/>
            <a:ext cx="7621064" cy="9805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1309649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10515600" cy="430403"/>
          </a:xfrm>
        </p:spPr>
        <p:txBody>
          <a:bodyPr>
            <a:normAutofit fontScale="90000"/>
          </a:bodyPr>
          <a:lstStyle/>
          <a:p>
            <a:r>
              <a:rPr lang="en-US" dirty="0" smtClean="0"/>
              <a:t>Attribute: </a:t>
            </a:r>
            <a:r>
              <a:rPr lang="en-US" b="1" dirty="0" smtClean="0"/>
              <a:t>Humidity</a:t>
            </a:r>
            <a:r>
              <a:rPr lang="en-US" dirty="0" smtClean="0"/>
              <a:t> (within Rain)</a:t>
            </a:r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307" y="430403"/>
            <a:ext cx="5963482" cy="4115374"/>
          </a:xfrm>
          <a:prstGeom prst="rect">
            <a:avLst/>
          </a:prstGeom>
        </p:spPr>
      </p:pic>
      <p:pic>
        <p:nvPicPr>
          <p:cNvPr id="6" name="Picture 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4665" y="4884122"/>
            <a:ext cx="7678222" cy="15337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670436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72517"/>
            <a:ext cx="10515600" cy="549275"/>
          </a:xfrm>
        </p:spPr>
        <p:txBody>
          <a:bodyPr>
            <a:normAutofit fontScale="90000"/>
          </a:bodyPr>
          <a:lstStyle/>
          <a:p>
            <a:r>
              <a:rPr lang="en-US" dirty="0" smtClean="0"/>
              <a:t>Attribute: </a:t>
            </a:r>
            <a:r>
              <a:rPr lang="en-US" b="1" dirty="0" smtClean="0"/>
              <a:t>Wind</a:t>
            </a:r>
            <a:r>
              <a:rPr lang="en-US" dirty="0" smtClean="0"/>
              <a:t> (within Rain)</a:t>
            </a:r>
            <a:endParaRPr lang="en-US" dirty="0"/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2164" y="788598"/>
            <a:ext cx="6392167" cy="37629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3829225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" y="301752"/>
            <a:ext cx="11730189" cy="57972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7173708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2516</TotalTime>
  <Words>191</Words>
  <Application>Microsoft Office PowerPoint</Application>
  <PresentationFormat>Widescreen</PresentationFormat>
  <Paragraphs>106</Paragraphs>
  <Slides>17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1" baseType="lpstr">
      <vt:lpstr>Arial</vt:lpstr>
      <vt:lpstr>Calibri</vt:lpstr>
      <vt:lpstr>Calibri Light</vt:lpstr>
      <vt:lpstr>Office Theme</vt:lpstr>
      <vt:lpstr>Decision Tree </vt:lpstr>
      <vt:lpstr>PowerPoint Presentation</vt:lpstr>
      <vt:lpstr>Step 0 — Root Node</vt:lpstr>
      <vt:lpstr>Step 1 — Information Gain for Each Attribute</vt:lpstr>
      <vt:lpstr>Step 1 — Information Gain for Each Attribute</vt:lpstr>
      <vt:lpstr>Step 1 — Information Gain for Each Attribute</vt:lpstr>
      <vt:lpstr>Step 1 — Information Gain for Each Attribute</vt:lpstr>
      <vt:lpstr>Step 1 — Information Gain for Each Attribute</vt:lpstr>
      <vt:lpstr>Step 2 — Expand Weather Branches</vt:lpstr>
      <vt:lpstr>Temperature (within Sunny)</vt:lpstr>
      <vt:lpstr>Attribute: Humidity (within Sunny)</vt:lpstr>
      <vt:lpstr>Attribute: Wind (within Sunny)</vt:lpstr>
      <vt:lpstr>Weather = Rain</vt:lpstr>
      <vt:lpstr>Attribute: Temperature (within Rain)</vt:lpstr>
      <vt:lpstr>Attribute: Humidity (within Rain)</vt:lpstr>
      <vt:lpstr>Attribute: Wind (within Rain)</vt:lpstr>
      <vt:lpstr>PowerPoint Presentation</vt:lpstr>
    </vt:vector>
  </TitlesOfParts>
  <Company/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Dr.Sahib</dc:creator>
  <cp:lastModifiedBy>Dr.Sahib</cp:lastModifiedBy>
  <cp:revision>13</cp:revision>
  <dcterms:created xsi:type="dcterms:W3CDTF">2025-11-01T12:25:26Z</dcterms:created>
  <dcterms:modified xsi:type="dcterms:W3CDTF">2025-11-14T08:45:20Z</dcterms:modified>
</cp:coreProperties>
</file>